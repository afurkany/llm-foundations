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F98E7-B93E-3E82-E0C8-8F6E22E6F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FEC9F-9082-2373-0C47-4F7B74ACE2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20C93-F646-79C7-33ED-6BF90F7BE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D3FC-5C7F-44A3-834F-8D203291989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39890-9936-5494-0E67-7DEA6942C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0B31C-D7D8-C10F-6544-94B0DF70E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8CF6E-807B-4DC8-BEBB-5F03782E4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95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5D47D-8E51-F64B-DA51-86CD27FB7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6CAE5-E446-950C-07CD-121EA91EF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D5D71-0E38-4275-4253-CF5D70741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D3FC-5C7F-44A3-834F-8D203291989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F3E32-E46A-696B-05EF-63342F6E7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D530D-3FDB-DB52-2BF2-BA065C7A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8CF6E-807B-4DC8-BEBB-5F03782E4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29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E3291-035F-71A1-0979-DC2E4E90A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F3DE5-EAA2-4842-C517-E84066BE6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A6DA6-4B7E-6E4F-32C2-66482A028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D3FC-5C7F-44A3-834F-8D203291989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DA64F-2299-EF46-2AEB-4CA43E902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A3574-C072-A030-8CE5-29EBAE754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8CF6E-807B-4DC8-BEBB-5F03782E4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5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D0512-46AD-8E29-2C2C-CB8C996EB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E83C9-0D9F-86D6-1AEF-504018634E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4D848-D884-2BCF-8D66-E2BADF355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2B9CD-68E5-49C0-3CBE-A87E64CB5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D3FC-5C7F-44A3-834F-8D203291989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327E8-F401-16AC-DF8A-357C2FBA8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0BF9F-DFD7-0521-AF12-6B39862AA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8CF6E-807B-4DC8-BEBB-5F03782E4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115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AE5F7-84C6-089E-80CC-619000F1A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23F91-2B04-677E-25B5-9F34DB5FA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27617-85AA-A7B1-B4DB-1EC1977AF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D7EA27-7B2A-5BBA-F6AE-965D8C8D5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E6727F-7100-96DB-B8DC-2443CC1154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50E052-79BA-BE56-5572-3BA21CFCF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D3FC-5C7F-44A3-834F-8D203291989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1919D7-4365-3E16-5DE0-586430882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0EF48C-9A15-18F6-A4B5-F87371BD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8CF6E-807B-4DC8-BEBB-5F03782E4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58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3D8C3-9B1C-DC46-278A-7B8419078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8AD86B-1A4F-CCBC-01DC-AA7119A96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D3FC-5C7F-44A3-834F-8D203291989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1119D-F15B-3CB1-474D-775967E1E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A2F191-9799-86EC-64A3-D8D95EED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8CF6E-807B-4DC8-BEBB-5F03782E4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60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CF187-89F6-8A45-9209-E2982497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D3FC-5C7F-44A3-834F-8D203291989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CED862-86C3-8D18-1AA4-3131D1622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65DDB-7B74-2734-5955-F8C7952BF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8CF6E-807B-4DC8-BEBB-5F03782E4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09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56EEF-6674-BF7F-C185-DC35E7692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81EA1-613C-4BBA-A558-17840D726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AF2834-E049-BA49-BEB6-51D556147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B8103-4482-9541-566D-88B5AA466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D3FC-5C7F-44A3-834F-8D203291989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DB289-F7DD-0858-CAC9-31A867265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0421A-AC2F-778E-F185-87B9903A6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8CF6E-807B-4DC8-BEBB-5F03782E4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18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7A412-12A5-96BF-768A-DD5AF5AC6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9C32D-F48C-636B-6D50-95C9E3D810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6F3917-33AC-B198-ACE7-9E970A288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FCD8A-B1F1-9408-6222-802CB815F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D3FC-5C7F-44A3-834F-8D203291989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AFB84D-2497-968C-8EA1-7A7F11D9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911C8-82DC-B109-5C72-F31404CC0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8CF6E-807B-4DC8-BEBB-5F03782E4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844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29F2D-5DEB-1B35-A9CD-EC49CB62F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658280-BE67-FF56-6584-AE70D9DBA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D98C6-34DE-26BD-D2D7-E7DE91B28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D3FC-5C7F-44A3-834F-8D203291989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D0FCF-BF5B-FC2B-2EF9-F818E9A43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F74D3-908C-69A9-2B8E-9AC1779BC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8CF6E-807B-4DC8-BEBB-5F03782E4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34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0B2B9-8D6C-1B6C-1B00-DE99A237F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73275-70ED-54CF-F39B-654988446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5FEFB-6D74-2D9A-89E6-E7A31CD21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D3FC-5C7F-44A3-834F-8D203291989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88F64-F7DC-2A76-364C-718FD1AC9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0885C-A59D-C0AD-782B-D5648AFA4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8CF6E-807B-4DC8-BEBB-5F03782E4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638E2A-835F-D844-ECBB-95E970536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01597-591A-032D-8E00-14AFF7E9E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4BFAD-62EC-2CD1-2EFA-112A893F31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AD3FC-5C7F-44A3-834F-8D203291989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59705-A6E1-4E38-3369-1CDC21EC9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DF40F-939F-40FC-14AA-A3FE98236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8CF6E-807B-4DC8-BEBB-5F03782E4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20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799EAB-E12A-BE6C-D40F-E6C81B8AF529}"/>
                  </a:ext>
                </a:extLst>
              </p:cNvPr>
              <p:cNvSpPr txBox="1"/>
              <p:nvPr/>
            </p:nvSpPr>
            <p:spPr>
              <a:xfrm>
                <a:off x="2164111" y="2866323"/>
                <a:ext cx="1472134" cy="1020472"/>
              </a:xfrm>
              <a:prstGeom prst="rect">
                <a:avLst/>
              </a:prstGeom>
              <a:noFill/>
              <a:scene3d>
                <a:camera prst="isometricLeftDown"/>
                <a:lightRig rig="threePt" dir="t"/>
              </a:scene3d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799EAB-E12A-BE6C-D40F-E6C81B8AF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111" y="2866323"/>
                <a:ext cx="1472134" cy="10204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D18A96-8E12-2557-D324-D4814A08E3DB}"/>
                  </a:ext>
                </a:extLst>
              </p:cNvPr>
              <p:cNvSpPr txBox="1"/>
              <p:nvPr/>
            </p:nvSpPr>
            <p:spPr>
              <a:xfrm>
                <a:off x="3018249" y="2356087"/>
                <a:ext cx="1472134" cy="1020472"/>
              </a:xfrm>
              <a:prstGeom prst="rect">
                <a:avLst/>
              </a:prstGeom>
              <a:noFill/>
              <a:scene3d>
                <a:camera prst="isometricLeftDown"/>
                <a:lightRig rig="threePt" dir="t"/>
              </a:scene3d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D18A96-8E12-2557-D324-D4814A08E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249" y="2356087"/>
                <a:ext cx="1472134" cy="10204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>
            <a:extLst>
              <a:ext uri="{FF2B5EF4-FFF2-40B4-BE49-F238E27FC236}">
                <a16:creationId xmlns:a16="http://schemas.microsoft.com/office/drawing/2014/main" id="{243CA783-4324-ECEF-EF20-E2A5DEF95DF2}"/>
              </a:ext>
            </a:extLst>
          </p:cNvPr>
          <p:cNvSpPr/>
          <p:nvPr/>
        </p:nvSpPr>
        <p:spPr>
          <a:xfrm>
            <a:off x="3885346" y="3513454"/>
            <a:ext cx="355936" cy="892985"/>
          </a:xfrm>
          <a:prstGeom prst="rightBrace">
            <a:avLst/>
          </a:prstGeom>
          <a:scene3d>
            <a:camera prst="isometricBottomDown"/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748522-8ADC-A908-B46B-33A97CE829AD}"/>
              </a:ext>
            </a:extLst>
          </p:cNvPr>
          <p:cNvSpPr txBox="1"/>
          <p:nvPr/>
        </p:nvSpPr>
        <p:spPr>
          <a:xfrm>
            <a:off x="4241282" y="3956820"/>
            <a:ext cx="1495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(batch size)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028FD6B4-BFAA-483D-E239-1B6266857D0E}"/>
              </a:ext>
            </a:extLst>
          </p:cNvPr>
          <p:cNvSpPr/>
          <p:nvPr/>
        </p:nvSpPr>
        <p:spPr>
          <a:xfrm>
            <a:off x="4395330" y="2724208"/>
            <a:ext cx="154049" cy="78924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5CCB9B-B0AB-C8D9-DDF7-877D08F4BDCA}"/>
              </a:ext>
            </a:extLst>
          </p:cNvPr>
          <p:cNvSpPr txBox="1"/>
          <p:nvPr/>
        </p:nvSpPr>
        <p:spPr>
          <a:xfrm>
            <a:off x="4644431" y="29345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2C1B4839-5B98-2E5C-45D2-61082AA8AF48}"/>
              </a:ext>
            </a:extLst>
          </p:cNvPr>
          <p:cNvSpPr/>
          <p:nvPr/>
        </p:nvSpPr>
        <p:spPr>
          <a:xfrm rot="21429341">
            <a:off x="3834907" y="1736656"/>
            <a:ext cx="266709" cy="1197864"/>
          </a:xfrm>
          <a:prstGeom prst="rightBrace">
            <a:avLst/>
          </a:prstGeom>
          <a:scene3d>
            <a:camera prst="isometricTopUp"/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DEFE2C-6817-1C17-A208-1592BA3B4361}"/>
              </a:ext>
            </a:extLst>
          </p:cNvPr>
          <p:cNvSpPr txBox="1"/>
          <p:nvPr/>
        </p:nvSpPr>
        <p:spPr>
          <a:xfrm>
            <a:off x="4087233" y="1984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78E1E3-ACB4-B601-8FFE-86FBD06EE0CE}"/>
                  </a:ext>
                </a:extLst>
              </p:cNvPr>
              <p:cNvSpPr txBox="1"/>
              <p:nvPr/>
            </p:nvSpPr>
            <p:spPr>
              <a:xfrm>
                <a:off x="6577615" y="2866323"/>
                <a:ext cx="1564339" cy="732573"/>
              </a:xfrm>
              <a:prstGeom prst="rect">
                <a:avLst/>
              </a:prstGeom>
              <a:noFill/>
              <a:scene3d>
                <a:camera prst="isometricLeftDown"/>
                <a:lightRig rig="threePt" dir="t"/>
              </a:scene3d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78E1E3-ACB4-B601-8FFE-86FBD06EE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615" y="2866323"/>
                <a:ext cx="1564339" cy="7325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Brace 14">
            <a:extLst>
              <a:ext uri="{FF2B5EF4-FFF2-40B4-BE49-F238E27FC236}">
                <a16:creationId xmlns:a16="http://schemas.microsoft.com/office/drawing/2014/main" id="{AF61D92B-6072-5A4B-ABDE-59C0C467E5D8}"/>
              </a:ext>
            </a:extLst>
          </p:cNvPr>
          <p:cNvSpPr/>
          <p:nvPr/>
        </p:nvSpPr>
        <p:spPr>
          <a:xfrm>
            <a:off x="8368213" y="3433167"/>
            <a:ext cx="355936" cy="892985"/>
          </a:xfrm>
          <a:prstGeom prst="rightBrace">
            <a:avLst/>
          </a:prstGeom>
          <a:scene3d>
            <a:camera prst="isometricBottomDown"/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70A0DD-A5B3-4AAE-3DAC-5C6786AC363F}"/>
              </a:ext>
            </a:extLst>
          </p:cNvPr>
          <p:cNvSpPr txBox="1"/>
          <p:nvPr/>
        </p:nvSpPr>
        <p:spPr>
          <a:xfrm>
            <a:off x="8676311" y="3941920"/>
            <a:ext cx="1495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(batch size)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15D0489F-224A-177F-D16B-8D2002ADB5B5}"/>
              </a:ext>
            </a:extLst>
          </p:cNvPr>
          <p:cNvSpPr/>
          <p:nvPr/>
        </p:nvSpPr>
        <p:spPr>
          <a:xfrm>
            <a:off x="8866185" y="2972713"/>
            <a:ext cx="173299" cy="47069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DA69CA-849C-032C-832D-85573A62EE48}"/>
              </a:ext>
            </a:extLst>
          </p:cNvPr>
          <p:cNvSpPr txBox="1"/>
          <p:nvPr/>
        </p:nvSpPr>
        <p:spPr>
          <a:xfrm>
            <a:off x="9016807" y="300993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85D23FC8-D5FD-E0D5-8ECB-7AAA9D0698F8}"/>
              </a:ext>
            </a:extLst>
          </p:cNvPr>
          <p:cNvSpPr/>
          <p:nvPr/>
        </p:nvSpPr>
        <p:spPr>
          <a:xfrm rot="21429341">
            <a:off x="8139704" y="1580695"/>
            <a:ext cx="266709" cy="1627323"/>
          </a:xfrm>
          <a:prstGeom prst="rightBrace">
            <a:avLst/>
          </a:prstGeom>
          <a:scene3d>
            <a:camera prst="isometricTopUp"/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7AFDAB-88B2-8310-A8E8-A429467FB66C}"/>
              </a:ext>
            </a:extLst>
          </p:cNvPr>
          <p:cNvSpPr txBox="1"/>
          <p:nvPr/>
        </p:nvSpPr>
        <p:spPr>
          <a:xfrm>
            <a:off x="8368213" y="197271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2434D64-7241-5BE2-21CA-1B9D16B38996}"/>
                  </a:ext>
                </a:extLst>
              </p:cNvPr>
              <p:cNvSpPr txBox="1"/>
              <p:nvPr/>
            </p:nvSpPr>
            <p:spPr>
              <a:xfrm>
                <a:off x="7090425" y="2457206"/>
                <a:ext cx="1949059" cy="756426"/>
              </a:xfrm>
              <a:prstGeom prst="rect">
                <a:avLst/>
              </a:prstGeom>
              <a:noFill/>
              <a:scene3d>
                <a:camera prst="isometricLeftDown"/>
                <a:lightRig rig="threePt" dir="t"/>
              </a:scene3d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2434D64-7241-5BE2-21CA-1B9D16B38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425" y="2457206"/>
                <a:ext cx="1949059" cy="7564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row: Right 21">
            <a:extLst>
              <a:ext uri="{FF2B5EF4-FFF2-40B4-BE49-F238E27FC236}">
                <a16:creationId xmlns:a16="http://schemas.microsoft.com/office/drawing/2014/main" id="{B48E402F-3A9A-8BFB-C145-A7E397297B23}"/>
              </a:ext>
            </a:extLst>
          </p:cNvPr>
          <p:cNvSpPr/>
          <p:nvPr/>
        </p:nvSpPr>
        <p:spPr>
          <a:xfrm>
            <a:off x="5641426" y="2972713"/>
            <a:ext cx="484273" cy="4038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1BBAD5-EAA8-6D5F-DD39-19C18C3FDD38}"/>
              </a:ext>
            </a:extLst>
          </p:cNvPr>
          <p:cNvSpPr txBox="1"/>
          <p:nvPr/>
        </p:nvSpPr>
        <p:spPr>
          <a:xfrm>
            <a:off x="1460006" y="651750"/>
            <a:ext cx="87552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tensor.transpose(1, 2):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keeps the batch size constant and flips the tensor between the 2</a:t>
            </a:r>
            <a:r>
              <a:rPr lang="en-US" baseline="30000" dirty="0"/>
              <a:t>nd</a:t>
            </a:r>
            <a:r>
              <a:rPr lang="en-US" dirty="0"/>
              <a:t> and 3</a:t>
            </a:r>
            <a:r>
              <a:rPr lang="en-US" baseline="30000" dirty="0"/>
              <a:t>rd</a:t>
            </a:r>
            <a:r>
              <a:rPr lang="en-US" dirty="0"/>
              <a:t> dimensions.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95EE8E-81F3-B154-6612-A90C08E9390D}"/>
              </a:ext>
            </a:extLst>
          </p:cNvPr>
          <p:cNvSpPr txBox="1"/>
          <p:nvPr/>
        </p:nvSpPr>
        <p:spPr>
          <a:xfrm>
            <a:off x="4878564" y="280215"/>
            <a:ext cx="1795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Torch Transpose</a:t>
            </a:r>
          </a:p>
        </p:txBody>
      </p:sp>
    </p:spTree>
    <p:extLst>
      <p:ext uri="{BB962C8B-B14F-4D97-AF65-F5344CB8AC3E}">
        <p14:creationId xmlns:p14="http://schemas.microsoft.com/office/powerpoint/2010/main" val="33250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C9BD1D0-477D-FCBA-8C69-F094F347E1F1}"/>
              </a:ext>
            </a:extLst>
          </p:cNvPr>
          <p:cNvSpPr/>
          <p:nvPr/>
        </p:nvSpPr>
        <p:spPr>
          <a:xfrm>
            <a:off x="3003804" y="4838700"/>
            <a:ext cx="402336" cy="4023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DF0FE1D-52AC-9FB6-2487-8A01C42DDE84}"/>
              </a:ext>
            </a:extLst>
          </p:cNvPr>
          <p:cNvSpPr/>
          <p:nvPr/>
        </p:nvSpPr>
        <p:spPr>
          <a:xfrm>
            <a:off x="4309110" y="4838700"/>
            <a:ext cx="402336" cy="4023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+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FBE1E8F-E952-A2B7-545C-5428B7E697D9}"/>
              </a:ext>
            </a:extLst>
          </p:cNvPr>
          <p:cNvSpPr/>
          <p:nvPr/>
        </p:nvSpPr>
        <p:spPr>
          <a:xfrm>
            <a:off x="1700784" y="4122420"/>
            <a:ext cx="484632" cy="484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</a:t>
            </a:r>
            <a:r>
              <a:rPr lang="en-US" sz="1400" baseline="-25000" dirty="0"/>
              <a:t>1</a:t>
            </a:r>
            <a:endParaRPr lang="en-US" sz="1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E7C617-04B0-E983-D10E-7A44FF5FDB6D}"/>
              </a:ext>
            </a:extLst>
          </p:cNvPr>
          <p:cNvSpPr/>
          <p:nvPr/>
        </p:nvSpPr>
        <p:spPr>
          <a:xfrm>
            <a:off x="1700784" y="5468112"/>
            <a:ext cx="484632" cy="484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X</a:t>
            </a:r>
            <a:r>
              <a:rPr lang="en-US" sz="1400" baseline="-25000" dirty="0"/>
              <a:t>1</a:t>
            </a:r>
            <a:endParaRPr lang="en-US" sz="1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CBADF52-B25F-EFB0-40EC-85F7191DE34E}"/>
              </a:ext>
            </a:extLst>
          </p:cNvPr>
          <p:cNvSpPr/>
          <p:nvPr/>
        </p:nvSpPr>
        <p:spPr>
          <a:xfrm>
            <a:off x="3824478" y="5465064"/>
            <a:ext cx="484632" cy="484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03F914-1D3A-9670-8EE8-15E52FACC161}"/>
              </a:ext>
            </a:extLst>
          </p:cNvPr>
          <p:cNvSpPr/>
          <p:nvPr/>
        </p:nvSpPr>
        <p:spPr>
          <a:xfrm>
            <a:off x="5646935" y="4797552"/>
            <a:ext cx="484632" cy="484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Z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08FDB9-62AD-9933-C32C-B62C9EBCFB97}"/>
              </a:ext>
            </a:extLst>
          </p:cNvPr>
          <p:cNvCxnSpPr>
            <a:stCxn id="8" idx="3"/>
            <a:endCxn id="2" idx="1"/>
          </p:cNvCxnSpPr>
          <p:nvPr/>
        </p:nvCxnSpPr>
        <p:spPr>
          <a:xfrm>
            <a:off x="2185416" y="4364736"/>
            <a:ext cx="877309" cy="5328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C2ABC96-16BD-F90A-87D2-9F6F011A2190}"/>
              </a:ext>
            </a:extLst>
          </p:cNvPr>
          <p:cNvCxnSpPr>
            <a:stCxn id="9" idx="3"/>
            <a:endCxn id="2" idx="3"/>
          </p:cNvCxnSpPr>
          <p:nvPr/>
        </p:nvCxnSpPr>
        <p:spPr>
          <a:xfrm flipV="1">
            <a:off x="2185416" y="5182115"/>
            <a:ext cx="877309" cy="528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D514555-B24B-8308-A838-E612DD7F9D56}"/>
              </a:ext>
            </a:extLst>
          </p:cNvPr>
          <p:cNvCxnSpPr>
            <a:cxnSpLocks/>
            <a:stCxn id="2" idx="6"/>
            <a:endCxn id="6" idx="2"/>
          </p:cNvCxnSpPr>
          <p:nvPr/>
        </p:nvCxnSpPr>
        <p:spPr>
          <a:xfrm>
            <a:off x="3406140" y="5039868"/>
            <a:ext cx="902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723A2F3-62FB-86D2-478F-817772E49361}"/>
              </a:ext>
            </a:extLst>
          </p:cNvPr>
          <p:cNvCxnSpPr>
            <a:stCxn id="10" idx="3"/>
            <a:endCxn id="6" idx="4"/>
          </p:cNvCxnSpPr>
          <p:nvPr/>
        </p:nvCxnSpPr>
        <p:spPr>
          <a:xfrm flipV="1">
            <a:off x="4309110" y="5241036"/>
            <a:ext cx="201168" cy="4663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6D6253D-9945-C507-42C2-04B37ADA3705}"/>
              </a:ext>
            </a:extLst>
          </p:cNvPr>
          <p:cNvCxnSpPr>
            <a:stCxn id="6" idx="6"/>
            <a:endCxn id="11" idx="1"/>
          </p:cNvCxnSpPr>
          <p:nvPr/>
        </p:nvCxnSpPr>
        <p:spPr>
          <a:xfrm>
            <a:off x="4711446" y="5039868"/>
            <a:ext cx="9354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F8A2AF8-7159-99F7-90E3-DDD19CBFDACC}"/>
              </a:ext>
            </a:extLst>
          </p:cNvPr>
          <p:cNvSpPr/>
          <p:nvPr/>
        </p:nvSpPr>
        <p:spPr>
          <a:xfrm>
            <a:off x="5646935" y="5800344"/>
            <a:ext cx="484632" cy="484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y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4CFFC5A-116C-644F-703C-3C3A9FDD1AAF}"/>
              </a:ext>
            </a:extLst>
          </p:cNvPr>
          <p:cNvSpPr/>
          <p:nvPr/>
        </p:nvSpPr>
        <p:spPr>
          <a:xfrm>
            <a:off x="6646926" y="5308854"/>
            <a:ext cx="402336" cy="4023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-</a:t>
            </a:r>
            <a:endParaRPr lang="en-US" sz="16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D0A3646-CB58-ACF2-03B9-8B78908DA714}"/>
              </a:ext>
            </a:extLst>
          </p:cNvPr>
          <p:cNvCxnSpPr>
            <a:stCxn id="11" idx="3"/>
            <a:endCxn id="30" idx="1"/>
          </p:cNvCxnSpPr>
          <p:nvPr/>
        </p:nvCxnSpPr>
        <p:spPr>
          <a:xfrm>
            <a:off x="6131567" y="5039868"/>
            <a:ext cx="574280" cy="3279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A6A3EB0-6E54-9917-F491-150EFBA14DB7}"/>
              </a:ext>
            </a:extLst>
          </p:cNvPr>
          <p:cNvCxnSpPr>
            <a:stCxn id="29" idx="3"/>
            <a:endCxn id="30" idx="3"/>
          </p:cNvCxnSpPr>
          <p:nvPr/>
        </p:nvCxnSpPr>
        <p:spPr>
          <a:xfrm flipV="1">
            <a:off x="6131567" y="5652269"/>
            <a:ext cx="574280" cy="3903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7E5BD311-0F6D-02A1-BF1E-BF59EBECCC4C}"/>
              </a:ext>
            </a:extLst>
          </p:cNvPr>
          <p:cNvSpPr/>
          <p:nvPr/>
        </p:nvSpPr>
        <p:spPr>
          <a:xfrm>
            <a:off x="7752856" y="5305044"/>
            <a:ext cx="1089639" cy="4023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POW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68AC1A5-E3E5-4CCD-1FF7-9114D0B2A4C6}"/>
              </a:ext>
            </a:extLst>
          </p:cNvPr>
          <p:cNvCxnSpPr>
            <a:stCxn id="30" idx="6"/>
            <a:endCxn id="35" idx="2"/>
          </p:cNvCxnSpPr>
          <p:nvPr/>
        </p:nvCxnSpPr>
        <p:spPr>
          <a:xfrm flipV="1">
            <a:off x="7049262" y="5506212"/>
            <a:ext cx="703594" cy="3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921B5E0-D848-E4A4-7CF8-CC37263133F7}"/>
              </a:ext>
            </a:extLst>
          </p:cNvPr>
          <p:cNvSpPr/>
          <p:nvPr/>
        </p:nvSpPr>
        <p:spPr>
          <a:xfrm>
            <a:off x="7274320" y="6042660"/>
            <a:ext cx="484632" cy="484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B2533DC-85C0-484E-C751-64F6912AF2DF}"/>
              </a:ext>
            </a:extLst>
          </p:cNvPr>
          <p:cNvCxnSpPr>
            <a:cxnSpLocks/>
            <a:stCxn id="38" idx="0"/>
            <a:endCxn id="35" idx="3"/>
          </p:cNvCxnSpPr>
          <p:nvPr/>
        </p:nvCxnSpPr>
        <p:spPr>
          <a:xfrm flipV="1">
            <a:off x="7516636" y="5648459"/>
            <a:ext cx="395794" cy="394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92E4B42-D178-7BA4-9881-35EE47B864FD}"/>
              </a:ext>
            </a:extLst>
          </p:cNvPr>
          <p:cNvCxnSpPr>
            <a:cxnSpLocks/>
            <a:stCxn id="35" idx="6"/>
            <a:endCxn id="46" idx="1"/>
          </p:cNvCxnSpPr>
          <p:nvPr/>
        </p:nvCxnSpPr>
        <p:spPr>
          <a:xfrm flipV="1">
            <a:off x="8842495" y="5504688"/>
            <a:ext cx="644673" cy="1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7D40264-C440-0D1B-B51F-BFD05357F387}"/>
              </a:ext>
            </a:extLst>
          </p:cNvPr>
          <p:cNvSpPr/>
          <p:nvPr/>
        </p:nvSpPr>
        <p:spPr>
          <a:xfrm>
            <a:off x="9487168" y="5262372"/>
            <a:ext cx="680960" cy="484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Loss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C572838-DA34-5AA4-F191-8E59EAE5D54F}"/>
              </a:ext>
            </a:extLst>
          </p:cNvPr>
          <p:cNvSpPr txBox="1"/>
          <p:nvPr/>
        </p:nvSpPr>
        <p:spPr>
          <a:xfrm>
            <a:off x="5634315" y="6284976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5.0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6DAD757-08C3-0E0D-A30F-99A99C62EC37}"/>
              </a:ext>
            </a:extLst>
          </p:cNvPr>
          <p:cNvSpPr txBox="1"/>
          <p:nvPr/>
        </p:nvSpPr>
        <p:spPr>
          <a:xfrm>
            <a:off x="1688164" y="5949202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891851-1D08-BC9E-16E5-D93B170F4944}"/>
              </a:ext>
            </a:extLst>
          </p:cNvPr>
          <p:cNvSpPr txBox="1"/>
          <p:nvPr/>
        </p:nvSpPr>
        <p:spPr>
          <a:xfrm>
            <a:off x="1693578" y="4617205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4.4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E7DB883-9923-4473-BBAE-FE0B73D438F1}"/>
              </a:ext>
            </a:extLst>
          </p:cNvPr>
          <p:cNvSpPr txBox="1"/>
          <p:nvPr/>
        </p:nvSpPr>
        <p:spPr>
          <a:xfrm>
            <a:off x="3828354" y="5949202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B29A44-76A9-DB37-A064-C8387631430B}"/>
              </a:ext>
            </a:extLst>
          </p:cNvPr>
          <p:cNvSpPr txBox="1"/>
          <p:nvPr/>
        </p:nvSpPr>
        <p:spPr>
          <a:xfrm>
            <a:off x="5572599" y="442238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4.84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74E5EBF-FDAD-1A3F-BF8A-5BB53DC7D65A}"/>
              </a:ext>
            </a:extLst>
          </p:cNvPr>
          <p:cNvSpPr txBox="1"/>
          <p:nvPr/>
        </p:nvSpPr>
        <p:spPr>
          <a:xfrm>
            <a:off x="9393875" y="4850868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0.0256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44DF038-CF30-8320-5ADA-20C451D980BB}"/>
                  </a:ext>
                </a:extLst>
              </p:cNvPr>
              <p:cNvSpPr txBox="1"/>
              <p:nvPr/>
            </p:nvSpPr>
            <p:spPr>
              <a:xfrm>
                <a:off x="3056382" y="1070628"/>
                <a:ext cx="2211439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𝐿𝑜𝑠𝑠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44DF038-CF30-8320-5ADA-20C451D98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382" y="1070628"/>
                <a:ext cx="2211439" cy="5275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807050B-F654-22DD-87E3-E128B638BE8F}"/>
                  </a:ext>
                </a:extLst>
              </p:cNvPr>
              <p:cNvSpPr txBox="1"/>
              <p:nvPr/>
            </p:nvSpPr>
            <p:spPr>
              <a:xfrm>
                <a:off x="829027" y="1195919"/>
                <a:ext cx="16909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807050B-F654-22DD-87E3-E128B638B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27" y="1195919"/>
                <a:ext cx="1690976" cy="276999"/>
              </a:xfrm>
              <a:prstGeom prst="rect">
                <a:avLst/>
              </a:prstGeom>
              <a:blipFill>
                <a:blip r:embed="rId3"/>
                <a:stretch>
                  <a:fillRect l="-3249" t="-4348" r="-1083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450D5FC-0619-C0FF-3269-66D7CFE2BB6C}"/>
                  </a:ext>
                </a:extLst>
              </p:cNvPr>
              <p:cNvSpPr txBox="1"/>
              <p:nvPr/>
            </p:nvSpPr>
            <p:spPr>
              <a:xfrm>
                <a:off x="926938" y="394480"/>
                <a:ext cx="14951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450D5FC-0619-C0FF-3269-66D7CFE2B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938" y="394480"/>
                <a:ext cx="1495153" cy="276999"/>
              </a:xfrm>
              <a:prstGeom prst="rect">
                <a:avLst/>
              </a:prstGeom>
              <a:blipFill>
                <a:blip r:embed="rId4"/>
                <a:stretch>
                  <a:fillRect l="-2041" r="-3265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6303571-5DF0-5999-9970-D0F404C18E8D}"/>
                  </a:ext>
                </a:extLst>
              </p:cNvPr>
              <p:cNvSpPr txBox="1"/>
              <p:nvPr/>
            </p:nvSpPr>
            <p:spPr>
              <a:xfrm>
                <a:off x="3056381" y="255876"/>
                <a:ext cx="1020664" cy="5729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6303571-5DF0-5999-9970-D0F404C18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381" y="255876"/>
                <a:ext cx="1020664" cy="5729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Arrow: Right 58">
            <a:extLst>
              <a:ext uri="{FF2B5EF4-FFF2-40B4-BE49-F238E27FC236}">
                <a16:creationId xmlns:a16="http://schemas.microsoft.com/office/drawing/2014/main" id="{F062F95A-B1C5-0D4E-E00F-ADEF5FE0C335}"/>
              </a:ext>
            </a:extLst>
          </p:cNvPr>
          <p:cNvSpPr/>
          <p:nvPr/>
        </p:nvSpPr>
        <p:spPr>
          <a:xfrm>
            <a:off x="2618337" y="431318"/>
            <a:ext cx="300141" cy="2401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FEF3B3BD-DC46-2C69-C6C3-6175573912E2}"/>
              </a:ext>
            </a:extLst>
          </p:cNvPr>
          <p:cNvSpPr/>
          <p:nvPr/>
        </p:nvSpPr>
        <p:spPr>
          <a:xfrm>
            <a:off x="2618337" y="1257772"/>
            <a:ext cx="300141" cy="2401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02D87F7-E1D1-37A2-3C94-C13FD80508AA}"/>
              </a:ext>
            </a:extLst>
          </p:cNvPr>
          <p:cNvCxnSpPr>
            <a:cxnSpLocks/>
          </p:cNvCxnSpPr>
          <p:nvPr/>
        </p:nvCxnSpPr>
        <p:spPr>
          <a:xfrm>
            <a:off x="5267821" y="551398"/>
            <a:ext cx="701277" cy="217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02D2374-B9CE-A14D-2266-D596133C63A8}"/>
              </a:ext>
            </a:extLst>
          </p:cNvPr>
          <p:cNvCxnSpPr>
            <a:cxnSpLocks/>
          </p:cNvCxnSpPr>
          <p:nvPr/>
        </p:nvCxnSpPr>
        <p:spPr>
          <a:xfrm flipV="1">
            <a:off x="5338162" y="968658"/>
            <a:ext cx="618625" cy="2891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91002CB-8E68-02BF-88AA-7586B250562D}"/>
                  </a:ext>
                </a:extLst>
              </p:cNvPr>
              <p:cNvSpPr txBox="1"/>
              <p:nvPr/>
            </p:nvSpPr>
            <p:spPr>
              <a:xfrm>
                <a:off x="6144719" y="585635"/>
                <a:ext cx="5211940" cy="5729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𝐿𝑜𝑠𝑠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0.16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(1.1)= 0.352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91002CB-8E68-02BF-88AA-7586B2505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719" y="585635"/>
                <a:ext cx="5211940" cy="5729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AED5526-49B1-7985-78A9-C820986AF744}"/>
                  </a:ext>
                </a:extLst>
              </p:cNvPr>
              <p:cNvSpPr txBox="1"/>
              <p:nvPr/>
            </p:nvSpPr>
            <p:spPr>
              <a:xfrm>
                <a:off x="3056381" y="2741540"/>
                <a:ext cx="2211439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𝐿𝑜𝑠𝑠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AED5526-49B1-7985-78A9-C820986AF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381" y="2741540"/>
                <a:ext cx="2211439" cy="5275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B7CEF03-B4F4-3904-D1DA-5A0C94109DA1}"/>
                  </a:ext>
                </a:extLst>
              </p:cNvPr>
              <p:cNvSpPr txBox="1"/>
              <p:nvPr/>
            </p:nvSpPr>
            <p:spPr>
              <a:xfrm>
                <a:off x="829026" y="2866831"/>
                <a:ext cx="16909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B7CEF03-B4F4-3904-D1DA-5A0C94109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26" y="2866831"/>
                <a:ext cx="1690976" cy="276999"/>
              </a:xfrm>
              <a:prstGeom prst="rect">
                <a:avLst/>
              </a:prstGeom>
              <a:blipFill>
                <a:blip r:embed="rId8"/>
                <a:stretch>
                  <a:fillRect l="-3249" t="-4348" r="-1083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DB8DE92-6D28-8974-5C27-BA599BF3EF40}"/>
                  </a:ext>
                </a:extLst>
              </p:cNvPr>
              <p:cNvSpPr txBox="1"/>
              <p:nvPr/>
            </p:nvSpPr>
            <p:spPr>
              <a:xfrm>
                <a:off x="926937" y="2065392"/>
                <a:ext cx="14951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DB8DE92-6D28-8974-5C27-BA599BF3E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937" y="2065392"/>
                <a:ext cx="1495153" cy="276999"/>
              </a:xfrm>
              <a:prstGeom prst="rect">
                <a:avLst/>
              </a:prstGeom>
              <a:blipFill>
                <a:blip r:embed="rId9"/>
                <a:stretch>
                  <a:fillRect l="-2041" r="-3265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A4F12B3-92FE-7EE3-791C-032CED9EF575}"/>
                  </a:ext>
                </a:extLst>
              </p:cNvPr>
              <p:cNvSpPr txBox="1"/>
              <p:nvPr/>
            </p:nvSpPr>
            <p:spPr>
              <a:xfrm>
                <a:off x="3056380" y="1926788"/>
                <a:ext cx="734432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A4F12B3-92FE-7EE3-791C-032CED9EF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380" y="1926788"/>
                <a:ext cx="734432" cy="5275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Arrow: Right 75">
            <a:extLst>
              <a:ext uri="{FF2B5EF4-FFF2-40B4-BE49-F238E27FC236}">
                <a16:creationId xmlns:a16="http://schemas.microsoft.com/office/drawing/2014/main" id="{3C0FAD99-85D8-A869-3D1D-C10E975A636B}"/>
              </a:ext>
            </a:extLst>
          </p:cNvPr>
          <p:cNvSpPr/>
          <p:nvPr/>
        </p:nvSpPr>
        <p:spPr>
          <a:xfrm>
            <a:off x="2618336" y="2102230"/>
            <a:ext cx="300141" cy="2401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B14CB26F-FEE9-1ED3-3914-8049AE48A4A1}"/>
              </a:ext>
            </a:extLst>
          </p:cNvPr>
          <p:cNvSpPr/>
          <p:nvPr/>
        </p:nvSpPr>
        <p:spPr>
          <a:xfrm>
            <a:off x="2618336" y="2928684"/>
            <a:ext cx="300141" cy="2401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6B81234-0915-6289-DAA0-64CAEC65361A}"/>
              </a:ext>
            </a:extLst>
          </p:cNvPr>
          <p:cNvCxnSpPr>
            <a:cxnSpLocks/>
          </p:cNvCxnSpPr>
          <p:nvPr/>
        </p:nvCxnSpPr>
        <p:spPr>
          <a:xfrm>
            <a:off x="5267820" y="2222310"/>
            <a:ext cx="701277" cy="217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7076E42-90B2-1C78-2B02-4703D192DCCB}"/>
              </a:ext>
            </a:extLst>
          </p:cNvPr>
          <p:cNvCxnSpPr>
            <a:cxnSpLocks/>
          </p:cNvCxnSpPr>
          <p:nvPr/>
        </p:nvCxnSpPr>
        <p:spPr>
          <a:xfrm flipV="1">
            <a:off x="5338161" y="2639570"/>
            <a:ext cx="618625" cy="2891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5D4106E-FE90-E835-0D50-2862291BBA94}"/>
                  </a:ext>
                </a:extLst>
              </p:cNvPr>
              <p:cNvSpPr txBox="1"/>
              <p:nvPr/>
            </p:nvSpPr>
            <p:spPr>
              <a:xfrm>
                <a:off x="6144718" y="2256547"/>
                <a:ext cx="4485394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𝐿𝑜𝑠𝑠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0.16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=−0.32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5D4106E-FE90-E835-0D50-2862291BB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718" y="2256547"/>
                <a:ext cx="4485394" cy="52758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1D061B9-EE1B-3B2D-2356-62455C0778DF}"/>
              </a:ext>
            </a:extLst>
          </p:cNvPr>
          <p:cNvCxnSpPr>
            <a:cxnSpLocks/>
          </p:cNvCxnSpPr>
          <p:nvPr/>
        </p:nvCxnSpPr>
        <p:spPr>
          <a:xfrm>
            <a:off x="384048" y="1847088"/>
            <a:ext cx="112562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4A00A0B8-893B-C1C2-9D1A-62BD669B8900}"/>
              </a:ext>
            </a:extLst>
          </p:cNvPr>
          <p:cNvSpPr/>
          <p:nvPr/>
        </p:nvSpPr>
        <p:spPr>
          <a:xfrm>
            <a:off x="6227064" y="4617226"/>
            <a:ext cx="3209544" cy="640574"/>
          </a:xfrm>
          <a:custGeom>
            <a:avLst/>
            <a:gdLst>
              <a:gd name="connsiteX0" fmla="*/ 3209544 w 3209544"/>
              <a:gd name="connsiteY0" fmla="*/ 640574 h 640574"/>
              <a:gd name="connsiteX1" fmla="*/ 2496312 w 3209544"/>
              <a:gd name="connsiteY1" fmla="*/ 128510 h 640574"/>
              <a:gd name="connsiteX2" fmla="*/ 1307592 w 3209544"/>
              <a:gd name="connsiteY2" fmla="*/ 494 h 640574"/>
              <a:gd name="connsiteX3" fmla="*/ 0 w 3209544"/>
              <a:gd name="connsiteY3" fmla="*/ 155942 h 640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544" h="640574">
                <a:moveTo>
                  <a:pt x="3209544" y="640574"/>
                </a:moveTo>
                <a:cubicBezTo>
                  <a:pt x="3011424" y="437882"/>
                  <a:pt x="2813304" y="235190"/>
                  <a:pt x="2496312" y="128510"/>
                </a:cubicBezTo>
                <a:cubicBezTo>
                  <a:pt x="2179320" y="21830"/>
                  <a:pt x="1723644" y="-4078"/>
                  <a:pt x="1307592" y="494"/>
                </a:cubicBezTo>
                <a:cubicBezTo>
                  <a:pt x="891540" y="5066"/>
                  <a:pt x="445770" y="80504"/>
                  <a:pt x="0" y="155942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820FCF7F-875D-82EF-0674-BF7FC10632B9}"/>
              </a:ext>
            </a:extLst>
          </p:cNvPr>
          <p:cNvSpPr/>
          <p:nvPr/>
        </p:nvSpPr>
        <p:spPr>
          <a:xfrm>
            <a:off x="4379976" y="5294376"/>
            <a:ext cx="1179576" cy="557784"/>
          </a:xfrm>
          <a:custGeom>
            <a:avLst/>
            <a:gdLst>
              <a:gd name="connsiteX0" fmla="*/ 1179576 w 1179576"/>
              <a:gd name="connsiteY0" fmla="*/ 0 h 557784"/>
              <a:gd name="connsiteX1" fmla="*/ 594360 w 1179576"/>
              <a:gd name="connsiteY1" fmla="*/ 438912 h 557784"/>
              <a:gd name="connsiteX2" fmla="*/ 0 w 1179576"/>
              <a:gd name="connsiteY2" fmla="*/ 557784 h 557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79576" h="557784">
                <a:moveTo>
                  <a:pt x="1179576" y="0"/>
                </a:moveTo>
                <a:cubicBezTo>
                  <a:pt x="985266" y="172974"/>
                  <a:pt x="790956" y="345948"/>
                  <a:pt x="594360" y="438912"/>
                </a:cubicBezTo>
                <a:cubicBezTo>
                  <a:pt x="397764" y="531876"/>
                  <a:pt x="198882" y="544830"/>
                  <a:pt x="0" y="557784"/>
                </a:cubicBezTo>
              </a:path>
            </a:pathLst>
          </a:custGeom>
          <a:noFill/>
          <a:ln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4498E1A9-1245-58E2-BCA8-41A3BF2FF157}"/>
              </a:ext>
            </a:extLst>
          </p:cNvPr>
          <p:cNvSpPr/>
          <p:nvPr/>
        </p:nvSpPr>
        <p:spPr>
          <a:xfrm>
            <a:off x="411480" y="769014"/>
            <a:ext cx="292608" cy="292608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D795AC2-7B1A-A087-DE43-D587F2EC2454}"/>
              </a:ext>
            </a:extLst>
          </p:cNvPr>
          <p:cNvSpPr/>
          <p:nvPr/>
        </p:nvSpPr>
        <p:spPr>
          <a:xfrm>
            <a:off x="417576" y="2440941"/>
            <a:ext cx="292608" cy="29260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F17D6EAA-95F1-6BA0-50D1-B3ECA186A8F0}"/>
              </a:ext>
            </a:extLst>
          </p:cNvPr>
          <p:cNvSpPr/>
          <p:nvPr/>
        </p:nvSpPr>
        <p:spPr>
          <a:xfrm rot="20931910">
            <a:off x="6274612" y="4019829"/>
            <a:ext cx="3041749" cy="1407086"/>
          </a:xfrm>
          <a:custGeom>
            <a:avLst/>
            <a:gdLst>
              <a:gd name="connsiteX0" fmla="*/ 3209544 w 3209544"/>
              <a:gd name="connsiteY0" fmla="*/ 640574 h 640574"/>
              <a:gd name="connsiteX1" fmla="*/ 2496312 w 3209544"/>
              <a:gd name="connsiteY1" fmla="*/ 128510 h 640574"/>
              <a:gd name="connsiteX2" fmla="*/ 1307592 w 3209544"/>
              <a:gd name="connsiteY2" fmla="*/ 494 h 640574"/>
              <a:gd name="connsiteX3" fmla="*/ 0 w 3209544"/>
              <a:gd name="connsiteY3" fmla="*/ 155942 h 640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544" h="640574">
                <a:moveTo>
                  <a:pt x="3209544" y="640574"/>
                </a:moveTo>
                <a:cubicBezTo>
                  <a:pt x="3011424" y="437882"/>
                  <a:pt x="2813304" y="235190"/>
                  <a:pt x="2496312" y="128510"/>
                </a:cubicBezTo>
                <a:cubicBezTo>
                  <a:pt x="2179320" y="21830"/>
                  <a:pt x="1723644" y="-4078"/>
                  <a:pt x="1307592" y="494"/>
                </a:cubicBezTo>
                <a:cubicBezTo>
                  <a:pt x="891540" y="5066"/>
                  <a:pt x="445770" y="80504"/>
                  <a:pt x="0" y="155942"/>
                </a:cubicBezTo>
              </a:path>
            </a:pathLst>
          </a:custGeom>
          <a:noFill/>
          <a:ln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DC37A7B6-9495-FF0C-6E88-C4707C3DB768}"/>
              </a:ext>
            </a:extLst>
          </p:cNvPr>
          <p:cNvSpPr/>
          <p:nvPr/>
        </p:nvSpPr>
        <p:spPr>
          <a:xfrm rot="21174992">
            <a:off x="2320637" y="3764085"/>
            <a:ext cx="3164462" cy="1303767"/>
          </a:xfrm>
          <a:custGeom>
            <a:avLst/>
            <a:gdLst>
              <a:gd name="connsiteX0" fmla="*/ 3209544 w 3209544"/>
              <a:gd name="connsiteY0" fmla="*/ 640574 h 640574"/>
              <a:gd name="connsiteX1" fmla="*/ 2496312 w 3209544"/>
              <a:gd name="connsiteY1" fmla="*/ 128510 h 640574"/>
              <a:gd name="connsiteX2" fmla="*/ 1307592 w 3209544"/>
              <a:gd name="connsiteY2" fmla="*/ 494 h 640574"/>
              <a:gd name="connsiteX3" fmla="*/ 0 w 3209544"/>
              <a:gd name="connsiteY3" fmla="*/ 155942 h 640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544" h="640574">
                <a:moveTo>
                  <a:pt x="3209544" y="640574"/>
                </a:moveTo>
                <a:cubicBezTo>
                  <a:pt x="3011424" y="437882"/>
                  <a:pt x="2813304" y="235190"/>
                  <a:pt x="2496312" y="128510"/>
                </a:cubicBezTo>
                <a:cubicBezTo>
                  <a:pt x="2179320" y="21830"/>
                  <a:pt x="1723644" y="-4078"/>
                  <a:pt x="1307592" y="494"/>
                </a:cubicBezTo>
                <a:cubicBezTo>
                  <a:pt x="891540" y="5066"/>
                  <a:pt x="445770" y="80504"/>
                  <a:pt x="0" y="155942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D6F3E54E-96B4-7B07-480C-F7F6E40C7678}"/>
              </a:ext>
            </a:extLst>
          </p:cNvPr>
          <p:cNvSpPr/>
          <p:nvPr/>
        </p:nvSpPr>
        <p:spPr>
          <a:xfrm>
            <a:off x="7649182" y="4478789"/>
            <a:ext cx="292608" cy="292608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753C6450-A0F2-FB70-1183-14ED7B2D1684}"/>
              </a:ext>
            </a:extLst>
          </p:cNvPr>
          <p:cNvSpPr/>
          <p:nvPr/>
        </p:nvSpPr>
        <p:spPr>
          <a:xfrm>
            <a:off x="3824478" y="3621775"/>
            <a:ext cx="292608" cy="292608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CBB1D709-EA53-1841-D398-E13DF9889352}"/>
              </a:ext>
            </a:extLst>
          </p:cNvPr>
          <p:cNvSpPr/>
          <p:nvPr/>
        </p:nvSpPr>
        <p:spPr>
          <a:xfrm>
            <a:off x="7743712" y="3868170"/>
            <a:ext cx="292608" cy="29260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C50E6064-C463-D428-F9F3-FFA35D220A7A}"/>
              </a:ext>
            </a:extLst>
          </p:cNvPr>
          <p:cNvSpPr/>
          <p:nvPr/>
        </p:nvSpPr>
        <p:spPr>
          <a:xfrm>
            <a:off x="4847082" y="5558128"/>
            <a:ext cx="292608" cy="29260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86071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235C807-C131-F443-857E-17BA1227DAC3}"/>
                  </a:ext>
                </a:extLst>
              </p:cNvPr>
              <p:cNvSpPr txBox="1"/>
              <p:nvPr/>
            </p:nvSpPr>
            <p:spPr>
              <a:xfrm>
                <a:off x="326167" y="3396675"/>
                <a:ext cx="3113609" cy="1020472"/>
              </a:xfrm>
              <a:prstGeom prst="rect">
                <a:avLst/>
              </a:prstGeom>
              <a:noFill/>
              <a:scene3d>
                <a:camera prst="isometricLeftDown"/>
                <a:lightRig rig="threePt" dir="t"/>
              </a:scene3d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367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2885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1464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1807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3619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402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271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10899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2138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257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7026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15632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438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2016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257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235C807-C131-F443-857E-17BA1227D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67" y="3396675"/>
                <a:ext cx="3113609" cy="10204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099D9A3-19FB-0204-8CDF-EBB231B750D2}"/>
              </a:ext>
            </a:extLst>
          </p:cNvPr>
          <p:cNvSpPr txBox="1"/>
          <p:nvPr/>
        </p:nvSpPr>
        <p:spPr>
          <a:xfrm>
            <a:off x="4878564" y="280215"/>
            <a:ext cx="1935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Token Embedding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91D3E92-171A-B8B8-8438-C7CBA4059E1F}"/>
              </a:ext>
            </a:extLst>
          </p:cNvPr>
          <p:cNvSpPr/>
          <p:nvPr/>
        </p:nvSpPr>
        <p:spPr>
          <a:xfrm>
            <a:off x="1801368" y="4499443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D4A8BEB-1AFB-5F82-15F8-2BBFD8EA208B}"/>
              </a:ext>
            </a:extLst>
          </p:cNvPr>
          <p:cNvSpPr/>
          <p:nvPr/>
        </p:nvSpPr>
        <p:spPr>
          <a:xfrm>
            <a:off x="1801367" y="469756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D54B1F5-B8DD-CC67-E48E-29555EAE13E9}"/>
              </a:ext>
            </a:extLst>
          </p:cNvPr>
          <p:cNvSpPr/>
          <p:nvPr/>
        </p:nvSpPr>
        <p:spPr>
          <a:xfrm>
            <a:off x="1801367" y="489568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12FBFE3C-9D97-E29F-F84F-9E01C33AAD74}"/>
              </a:ext>
            </a:extLst>
          </p:cNvPr>
          <p:cNvSpPr/>
          <p:nvPr/>
        </p:nvSpPr>
        <p:spPr>
          <a:xfrm>
            <a:off x="3081529" y="4145222"/>
            <a:ext cx="188092" cy="108514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85A1B6-610A-B7E5-3B6E-A6BBDFC1BAA0}"/>
              </a:ext>
            </a:extLst>
          </p:cNvPr>
          <p:cNvSpPr txBox="1"/>
          <p:nvPr/>
        </p:nvSpPr>
        <p:spPr>
          <a:xfrm>
            <a:off x="3338333" y="4373170"/>
            <a:ext cx="29158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Shape:</a:t>
            </a:r>
          </a:p>
          <a:p>
            <a:r>
              <a:rPr lang="en-US" dirty="0"/>
              <a:t>batch size </a:t>
            </a:r>
            <a:r>
              <a:rPr lang="en-US" b="1" dirty="0">
                <a:solidFill>
                  <a:schemeClr val="accent1"/>
                </a:solidFill>
              </a:rPr>
              <a:t>x</a:t>
            </a:r>
            <a:r>
              <a:rPr lang="en-US" dirty="0"/>
              <a:t> context size = 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B7C714-CA33-FD25-3BD6-AAA1DF5C9F95}"/>
              </a:ext>
            </a:extLst>
          </p:cNvPr>
          <p:cNvSpPr txBox="1"/>
          <p:nvPr/>
        </p:nvSpPr>
        <p:spPr>
          <a:xfrm>
            <a:off x="3616241" y="1653474"/>
            <a:ext cx="67839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40</a:t>
            </a:r>
            <a:br>
              <a:rPr lang="en-US" dirty="0"/>
            </a:br>
            <a:endParaRPr lang="en-US" dirty="0"/>
          </a:p>
          <a:p>
            <a:pPr algn="ctr"/>
            <a:r>
              <a:rPr lang="en-US" dirty="0"/>
              <a:t>367</a:t>
            </a:r>
            <a:br>
              <a:rPr lang="en-US" dirty="0"/>
            </a:br>
            <a:endParaRPr lang="en-US" dirty="0"/>
          </a:p>
          <a:p>
            <a:pPr algn="ctr"/>
            <a:r>
              <a:rPr lang="en-US" dirty="0"/>
              <a:t>2885</a:t>
            </a:r>
            <a:br>
              <a:rPr lang="en-US" dirty="0"/>
            </a:br>
            <a:endParaRPr lang="en-US" dirty="0"/>
          </a:p>
          <a:p>
            <a:pPr algn="ctr"/>
            <a:r>
              <a:rPr lang="en-US" dirty="0"/>
              <a:t>1464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10A2E4A-714E-77B2-AC76-5B216686CDE1}"/>
              </a:ext>
            </a:extLst>
          </p:cNvPr>
          <p:cNvCxnSpPr/>
          <p:nvPr/>
        </p:nvCxnSpPr>
        <p:spPr>
          <a:xfrm>
            <a:off x="4271950" y="1827210"/>
            <a:ext cx="3304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58D7223-2C5D-6DEA-7ABD-C53D907961D3}"/>
              </a:ext>
            </a:extLst>
          </p:cNvPr>
          <p:cNvCxnSpPr/>
          <p:nvPr/>
        </p:nvCxnSpPr>
        <p:spPr>
          <a:xfrm>
            <a:off x="4283096" y="2372802"/>
            <a:ext cx="3304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18B675-0309-FBEF-2D24-8C3A5FEAEBEE}"/>
              </a:ext>
            </a:extLst>
          </p:cNvPr>
          <p:cNvCxnSpPr/>
          <p:nvPr/>
        </p:nvCxnSpPr>
        <p:spPr>
          <a:xfrm>
            <a:off x="4294632" y="2942346"/>
            <a:ext cx="3304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16773AA-2C93-3000-8266-6409975FFA98}"/>
              </a:ext>
            </a:extLst>
          </p:cNvPr>
          <p:cNvCxnSpPr/>
          <p:nvPr/>
        </p:nvCxnSpPr>
        <p:spPr>
          <a:xfrm>
            <a:off x="4294632" y="3462989"/>
            <a:ext cx="3304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EA1B8A-9337-D8AB-FE19-6EEDEC41C849}"/>
                  </a:ext>
                </a:extLst>
              </p:cNvPr>
              <p:cNvSpPr txBox="1"/>
              <p:nvPr/>
            </p:nvSpPr>
            <p:spPr>
              <a:xfrm>
                <a:off x="4565871" y="1631525"/>
                <a:ext cx="63710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0.3374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0.1778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0.3035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0.5880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0.3486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0.6603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0" dirty="0">
                  <a:effectLst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EA1B8A-9337-D8AB-FE19-6EEDEC41C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871" y="1631525"/>
                <a:ext cx="637108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75D52EE-B6D9-3E10-2A23-6B2509598CB0}"/>
                  </a:ext>
                </a:extLst>
              </p:cNvPr>
              <p:cNvSpPr txBox="1"/>
              <p:nvPr/>
            </p:nvSpPr>
            <p:spPr>
              <a:xfrm>
                <a:off x="4575015" y="2178254"/>
                <a:ext cx="63710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/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0.2196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0.3792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0.1606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0.4015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0.6957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/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1.8061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0" dirty="0">
                  <a:effectLst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75D52EE-B6D9-3E10-2A23-6B2509598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015" y="2178254"/>
                <a:ext cx="637108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35C6486-47DC-A46A-443B-2419802D1B67}"/>
                  </a:ext>
                </a:extLst>
              </p:cNvPr>
              <p:cNvSpPr txBox="1"/>
              <p:nvPr/>
            </p:nvSpPr>
            <p:spPr>
              <a:xfrm>
                <a:off x="4565871" y="2728288"/>
                <a:ext cx="63710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1.8960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0.1750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1.3689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1.6033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/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0.7849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/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1.4096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0" dirty="0">
                  <a:effectLst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35C6486-47DC-A46A-443B-2419802D1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871" y="2728288"/>
                <a:ext cx="637108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9B0795F-9073-751E-D14C-BB7F755D1D93}"/>
                  </a:ext>
                </a:extLst>
              </p:cNvPr>
              <p:cNvSpPr txBox="1"/>
              <p:nvPr/>
            </p:nvSpPr>
            <p:spPr>
              <a:xfrm>
                <a:off x="4625129" y="3260035"/>
                <a:ext cx="63710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/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0.4076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0.7953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0.9985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0.2212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1.8319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/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0.3378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0" dirty="0">
                  <a:effectLst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9B0795F-9073-751E-D14C-BB7F755D1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129" y="3260035"/>
                <a:ext cx="637108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CE0393C6-1020-6FAE-9184-127BBD18C0BF}"/>
              </a:ext>
            </a:extLst>
          </p:cNvPr>
          <p:cNvCxnSpPr>
            <a:cxnSpLocks/>
          </p:cNvCxnSpPr>
          <p:nvPr/>
        </p:nvCxnSpPr>
        <p:spPr>
          <a:xfrm flipV="1">
            <a:off x="1245903" y="1827210"/>
            <a:ext cx="2370338" cy="127041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0EBDE205-00EC-F244-1DD6-3566B257A1E4}"/>
              </a:ext>
            </a:extLst>
          </p:cNvPr>
          <p:cNvCxnSpPr>
            <a:cxnSpLocks/>
          </p:cNvCxnSpPr>
          <p:nvPr/>
        </p:nvCxnSpPr>
        <p:spPr>
          <a:xfrm flipV="1">
            <a:off x="1801367" y="2372802"/>
            <a:ext cx="1814874" cy="102387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9E459AB8-467A-F5F8-4D3F-B90A92F9F142}"/>
              </a:ext>
            </a:extLst>
          </p:cNvPr>
          <p:cNvCxnSpPr>
            <a:cxnSpLocks/>
          </p:cNvCxnSpPr>
          <p:nvPr/>
        </p:nvCxnSpPr>
        <p:spPr>
          <a:xfrm flipV="1">
            <a:off x="2432304" y="2974348"/>
            <a:ext cx="1183937" cy="71045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95075CB3-6FA0-6715-2CAA-CD9697C577ED}"/>
              </a:ext>
            </a:extLst>
          </p:cNvPr>
          <p:cNvCxnSpPr/>
          <p:nvPr/>
        </p:nvCxnSpPr>
        <p:spPr>
          <a:xfrm flipV="1">
            <a:off x="2926080" y="3462989"/>
            <a:ext cx="690161" cy="52379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624BDAF5-CD52-51DE-CBB9-CAA38585F35E}"/>
              </a:ext>
            </a:extLst>
          </p:cNvPr>
          <p:cNvSpPr/>
          <p:nvPr/>
        </p:nvSpPr>
        <p:spPr>
          <a:xfrm>
            <a:off x="8827330" y="5541265"/>
            <a:ext cx="1453896" cy="997251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4BD437-7777-79A0-755E-85EDCD02EE3B}"/>
              </a:ext>
            </a:extLst>
          </p:cNvPr>
          <p:cNvSpPr/>
          <p:nvPr/>
        </p:nvSpPr>
        <p:spPr>
          <a:xfrm>
            <a:off x="9927240" y="5474860"/>
            <a:ext cx="1587360" cy="997251"/>
          </a:xfrm>
          <a:prstGeom prst="rect">
            <a:avLst/>
          </a:prstGeom>
          <a:scene3d>
            <a:camera prst="isometricRight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D8E0D4D-CBC9-8D9E-BFB8-E810A57B205F}"/>
              </a:ext>
            </a:extLst>
          </p:cNvPr>
          <p:cNvSpPr/>
          <p:nvPr/>
        </p:nvSpPr>
        <p:spPr>
          <a:xfrm>
            <a:off x="9345719" y="4499443"/>
            <a:ext cx="1650492" cy="1371562"/>
          </a:xfrm>
          <a:prstGeom prst="rect">
            <a:avLst/>
          </a:prstGeom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Left Brace 63">
            <a:extLst>
              <a:ext uri="{FF2B5EF4-FFF2-40B4-BE49-F238E27FC236}">
                <a16:creationId xmlns:a16="http://schemas.microsoft.com/office/drawing/2014/main" id="{F30AAACC-778F-A58A-1F20-F180184967BE}"/>
              </a:ext>
            </a:extLst>
          </p:cNvPr>
          <p:cNvSpPr/>
          <p:nvPr/>
        </p:nvSpPr>
        <p:spPr>
          <a:xfrm rot="5400000">
            <a:off x="7660366" y="-1446778"/>
            <a:ext cx="247168" cy="581077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EC57294-AB3B-C594-8958-E852B54940A7}"/>
              </a:ext>
            </a:extLst>
          </p:cNvPr>
          <p:cNvSpPr txBox="1"/>
          <p:nvPr/>
        </p:nvSpPr>
        <p:spPr>
          <a:xfrm>
            <a:off x="6717119" y="911520"/>
            <a:ext cx="2133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 size = 6 </a:t>
            </a:r>
          </a:p>
        </p:txBody>
      </p:sp>
      <p:sp>
        <p:nvSpPr>
          <p:cNvPr id="66" name="Left Brace 65">
            <a:extLst>
              <a:ext uri="{FF2B5EF4-FFF2-40B4-BE49-F238E27FC236}">
                <a16:creationId xmlns:a16="http://schemas.microsoft.com/office/drawing/2014/main" id="{70609616-3616-0E02-23AF-73BEAF3B1B67}"/>
              </a:ext>
            </a:extLst>
          </p:cNvPr>
          <p:cNvSpPr/>
          <p:nvPr/>
        </p:nvSpPr>
        <p:spPr>
          <a:xfrm>
            <a:off x="8639238" y="5332752"/>
            <a:ext cx="188092" cy="80103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A284993-D24D-0B28-CC02-BE0BFEB4A353}"/>
              </a:ext>
            </a:extLst>
          </p:cNvPr>
          <p:cNvSpPr txBox="1"/>
          <p:nvPr/>
        </p:nvSpPr>
        <p:spPr>
          <a:xfrm>
            <a:off x="7409698" y="5541265"/>
            <a:ext cx="1237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batch size</a:t>
            </a:r>
          </a:p>
        </p:txBody>
      </p:sp>
      <p:sp>
        <p:nvSpPr>
          <p:cNvPr id="69" name="Right Brace 68">
            <a:extLst>
              <a:ext uri="{FF2B5EF4-FFF2-40B4-BE49-F238E27FC236}">
                <a16:creationId xmlns:a16="http://schemas.microsoft.com/office/drawing/2014/main" id="{A9CFC9CC-D1C7-DD98-0CFA-6DFA209FF4F1}"/>
              </a:ext>
            </a:extLst>
          </p:cNvPr>
          <p:cNvSpPr/>
          <p:nvPr/>
        </p:nvSpPr>
        <p:spPr>
          <a:xfrm>
            <a:off x="10787087" y="4112974"/>
            <a:ext cx="266709" cy="1197864"/>
          </a:xfrm>
          <a:prstGeom prst="rightBrace">
            <a:avLst/>
          </a:prstGeom>
          <a:scene3d>
            <a:camera prst="isometricTopUp"/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270E378-8E09-3CB2-CEE3-5F7EE1C9A320}"/>
              </a:ext>
            </a:extLst>
          </p:cNvPr>
          <p:cNvSpPr txBox="1"/>
          <p:nvPr/>
        </p:nvSpPr>
        <p:spPr>
          <a:xfrm>
            <a:off x="10619234" y="4223929"/>
            <a:ext cx="1379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context size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8C59E75-4D58-881E-6134-CAAB86B33E3A}"/>
              </a:ext>
            </a:extLst>
          </p:cNvPr>
          <p:cNvSpPr txBox="1"/>
          <p:nvPr/>
        </p:nvSpPr>
        <p:spPr>
          <a:xfrm>
            <a:off x="7828634" y="4257843"/>
            <a:ext cx="1809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embedding size </a:t>
            </a:r>
          </a:p>
        </p:txBody>
      </p:sp>
      <p:sp>
        <p:nvSpPr>
          <p:cNvPr id="73" name="Right Brace 72">
            <a:extLst>
              <a:ext uri="{FF2B5EF4-FFF2-40B4-BE49-F238E27FC236}">
                <a16:creationId xmlns:a16="http://schemas.microsoft.com/office/drawing/2014/main" id="{05777DD7-B958-B95C-0B73-A65E4AC61B7F}"/>
              </a:ext>
            </a:extLst>
          </p:cNvPr>
          <p:cNvSpPr/>
          <p:nvPr/>
        </p:nvSpPr>
        <p:spPr>
          <a:xfrm flipH="1">
            <a:off x="9256905" y="3971616"/>
            <a:ext cx="355936" cy="1572119"/>
          </a:xfrm>
          <a:prstGeom prst="rightBrace">
            <a:avLst/>
          </a:prstGeom>
          <a:scene3d>
            <a:camera prst="isometricBottomDown"/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149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9ECBF8-DE09-6AD3-273B-BA67A62F5423}"/>
              </a:ext>
            </a:extLst>
          </p:cNvPr>
          <p:cNvSpPr txBox="1"/>
          <p:nvPr/>
        </p:nvSpPr>
        <p:spPr>
          <a:xfrm>
            <a:off x="582964" y="179777"/>
            <a:ext cx="3279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Absolute Positional Embedding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D8EE339-3DD4-5200-5823-02142B07D4A8}"/>
              </a:ext>
            </a:extLst>
          </p:cNvPr>
          <p:cNvSpPr/>
          <p:nvPr/>
        </p:nvSpPr>
        <p:spPr>
          <a:xfrm>
            <a:off x="1801368" y="4408003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823311-995E-FB1B-5DD0-386F19A596F5}"/>
              </a:ext>
            </a:extLst>
          </p:cNvPr>
          <p:cNvSpPr/>
          <p:nvPr/>
        </p:nvSpPr>
        <p:spPr>
          <a:xfrm>
            <a:off x="1801367" y="460612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61C1442-FB0A-8F0A-0E5E-2EDDA16080BE}"/>
              </a:ext>
            </a:extLst>
          </p:cNvPr>
          <p:cNvSpPr/>
          <p:nvPr/>
        </p:nvSpPr>
        <p:spPr>
          <a:xfrm>
            <a:off x="1801367" y="480424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E5AB10-144A-F7BB-BA66-0748C9502FB9}"/>
              </a:ext>
            </a:extLst>
          </p:cNvPr>
          <p:cNvSpPr txBox="1"/>
          <p:nvPr/>
        </p:nvSpPr>
        <p:spPr>
          <a:xfrm>
            <a:off x="3616241" y="1562034"/>
            <a:ext cx="67839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40</a:t>
            </a:r>
            <a:br>
              <a:rPr lang="en-US" dirty="0"/>
            </a:b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367</a:t>
            </a:r>
            <a:br>
              <a:rPr lang="en-US" dirty="0"/>
            </a:b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2885</a:t>
            </a:r>
            <a:br>
              <a:rPr lang="en-US" dirty="0"/>
            </a:b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1464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5A10A0-D1AB-2AD1-C428-51C288A838D9}"/>
              </a:ext>
            </a:extLst>
          </p:cNvPr>
          <p:cNvCxnSpPr/>
          <p:nvPr/>
        </p:nvCxnSpPr>
        <p:spPr>
          <a:xfrm>
            <a:off x="4271950" y="1735770"/>
            <a:ext cx="3304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71D63D-6A14-14E9-774A-B6EDDC12C046}"/>
              </a:ext>
            </a:extLst>
          </p:cNvPr>
          <p:cNvCxnSpPr/>
          <p:nvPr/>
        </p:nvCxnSpPr>
        <p:spPr>
          <a:xfrm>
            <a:off x="4273952" y="3131663"/>
            <a:ext cx="3304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70C5FD-0EAE-DDDE-F77B-F43FEC460BDE}"/>
              </a:ext>
            </a:extLst>
          </p:cNvPr>
          <p:cNvCxnSpPr/>
          <p:nvPr/>
        </p:nvCxnSpPr>
        <p:spPr>
          <a:xfrm>
            <a:off x="4306754" y="4485749"/>
            <a:ext cx="3304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7C7FAC4-B898-4324-B686-733B733C017C}"/>
              </a:ext>
            </a:extLst>
          </p:cNvPr>
          <p:cNvCxnSpPr>
            <a:cxnSpLocks/>
          </p:cNvCxnSpPr>
          <p:nvPr/>
        </p:nvCxnSpPr>
        <p:spPr>
          <a:xfrm>
            <a:off x="4289779" y="5868006"/>
            <a:ext cx="3304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1755A39-9C54-F8CB-7E91-106371DF88C2}"/>
                  </a:ext>
                </a:extLst>
              </p:cNvPr>
              <p:cNvSpPr txBox="1"/>
              <p:nvPr/>
            </p:nvSpPr>
            <p:spPr>
              <a:xfrm>
                <a:off x="4565871" y="1540085"/>
                <a:ext cx="6371082" cy="5512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6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/>
                                        <m:t>0.3374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/>
                                        <m:t>0.1778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/>
                                        <m:t>0.3035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/>
                                        <m:t>0.5880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/>
                                        <m:t>0.3486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/>
                                        <m:t>0.6603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6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highlight>
                                            <a:srgbClr val="FFFF00"/>
                                          </a:highlight>
                                          <a:latin typeface="Cambria Math" panose="02040503050406030204" pitchFamily="18" charset="0"/>
                                        </a:rPr>
                                        <m:t>1.</m:t>
                                      </m:r>
                                      <m:r>
                                        <a:rPr lang="en-US" b="0" i="1" smtClean="0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           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1.2      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   1.3         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 1.4   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   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="0" i="0" smtClean="0"/>
                                        <m:t>1.5     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   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="0" i="0" smtClean="0"/>
                                        <m:t>1.6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0" dirty="0">
                  <a:effectLst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1755A39-9C54-F8CB-7E91-106371DF8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871" y="1540085"/>
                <a:ext cx="6371082" cy="5512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0E49FA8-CB44-1F95-166A-D062EA95C082}"/>
                  </a:ext>
                </a:extLst>
              </p:cNvPr>
              <p:cNvSpPr txBox="1"/>
              <p:nvPr/>
            </p:nvSpPr>
            <p:spPr>
              <a:xfrm>
                <a:off x="4565871" y="2937115"/>
                <a:ext cx="63710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/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0.2196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0.3792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0.1606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0.4015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0.6957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/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1.8061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0" dirty="0">
                  <a:effectLst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0E49FA8-CB44-1F95-166A-D062EA95C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871" y="2937115"/>
                <a:ext cx="637108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05BDFD-5614-73EC-836D-6C9730939073}"/>
                  </a:ext>
                </a:extLst>
              </p:cNvPr>
              <p:cNvSpPr txBox="1"/>
              <p:nvPr/>
            </p:nvSpPr>
            <p:spPr>
              <a:xfrm>
                <a:off x="4577993" y="4271691"/>
                <a:ext cx="63710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1.8960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0.1750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1.3689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1.6033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/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0.7849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/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1.4096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0" dirty="0">
                  <a:effectLst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05BDFD-5614-73EC-836D-6C9730939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7993" y="4271691"/>
                <a:ext cx="637108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E86C97-0BBD-DD9A-6065-433782625B97}"/>
                  </a:ext>
                </a:extLst>
              </p:cNvPr>
              <p:cNvSpPr txBox="1"/>
              <p:nvPr/>
            </p:nvSpPr>
            <p:spPr>
              <a:xfrm>
                <a:off x="4620276" y="5665052"/>
                <a:ext cx="63710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/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0.4076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0.7953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0.9985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0.2212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1.8319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/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0.3378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0" dirty="0">
                  <a:effectLst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E86C97-0BBD-DD9A-6065-433782625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276" y="5665052"/>
                <a:ext cx="637108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CFB8BFC6-170A-0230-D783-5EC86B25DB06}"/>
              </a:ext>
            </a:extLst>
          </p:cNvPr>
          <p:cNvCxnSpPr>
            <a:cxnSpLocks/>
          </p:cNvCxnSpPr>
          <p:nvPr/>
        </p:nvCxnSpPr>
        <p:spPr>
          <a:xfrm flipV="1">
            <a:off x="1245903" y="1735770"/>
            <a:ext cx="2370338" cy="127041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5807B5AF-72DD-C267-0623-5C8BA9D6291D}"/>
              </a:ext>
            </a:extLst>
          </p:cNvPr>
          <p:cNvCxnSpPr>
            <a:cxnSpLocks/>
          </p:cNvCxnSpPr>
          <p:nvPr/>
        </p:nvCxnSpPr>
        <p:spPr>
          <a:xfrm flipV="1">
            <a:off x="1801367" y="3131663"/>
            <a:ext cx="1814874" cy="17357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840D490-9857-98F4-BC59-9049B22F2F68}"/>
                  </a:ext>
                </a:extLst>
              </p:cNvPr>
              <p:cNvSpPr txBox="1"/>
              <p:nvPr/>
            </p:nvSpPr>
            <p:spPr>
              <a:xfrm>
                <a:off x="326167" y="3305235"/>
                <a:ext cx="3113609" cy="1020472"/>
              </a:xfrm>
              <a:prstGeom prst="rect">
                <a:avLst/>
              </a:prstGeom>
              <a:noFill/>
              <a:scene3d>
                <a:camera prst="isometricLeftDown"/>
                <a:lightRig rig="threePt" dir="t"/>
              </a:scene3d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367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2885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1464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1807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3619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402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271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10899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2138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257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7026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15632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438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2016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257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840D490-9857-98F4-BC59-9049B22F2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67" y="3305235"/>
                <a:ext cx="3113609" cy="10204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EA2EEE7A-9834-2358-CABF-331AFD278790}"/>
              </a:ext>
            </a:extLst>
          </p:cNvPr>
          <p:cNvCxnSpPr>
            <a:cxnSpLocks/>
          </p:cNvCxnSpPr>
          <p:nvPr/>
        </p:nvCxnSpPr>
        <p:spPr>
          <a:xfrm>
            <a:off x="2478024" y="3604290"/>
            <a:ext cx="1138217" cy="881459"/>
          </a:xfrm>
          <a:prstGeom prst="bentConnector3">
            <a:avLst>
              <a:gd name="adj1" fmla="val 7651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449BAB3-F9A1-09B9-A584-5FA64F250478}"/>
              </a:ext>
            </a:extLst>
          </p:cNvPr>
          <p:cNvGrpSpPr/>
          <p:nvPr/>
        </p:nvGrpSpPr>
        <p:grpSpPr>
          <a:xfrm>
            <a:off x="2937850" y="3971867"/>
            <a:ext cx="678391" cy="1896139"/>
            <a:chOff x="2919562" y="4136459"/>
            <a:chExt cx="759921" cy="1811401"/>
          </a:xfrm>
        </p:grpSpPr>
        <p:cxnSp>
          <p:nvCxnSpPr>
            <p:cNvPr id="51" name="Connector: Elbow 50">
              <a:extLst>
                <a:ext uri="{FF2B5EF4-FFF2-40B4-BE49-F238E27FC236}">
                  <a16:creationId xmlns:a16="http://schemas.microsoft.com/office/drawing/2014/main" id="{28078BBA-89F1-DF2F-7015-DD4963CFD55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478445" y="4746822"/>
              <a:ext cx="1804699" cy="597377"/>
            </a:xfrm>
            <a:prstGeom prst="bentConnector3">
              <a:avLst>
                <a:gd name="adj1" fmla="val 10016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2C162F7-41B2-4D83-6E54-45CA9CA506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9562" y="4136459"/>
              <a:ext cx="16254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8B1006DF-2371-FEFA-D98E-5FF87A10D9C3}"/>
              </a:ext>
            </a:extLst>
          </p:cNvPr>
          <p:cNvSpPr txBox="1"/>
          <p:nvPr/>
        </p:nvSpPr>
        <p:spPr>
          <a:xfrm>
            <a:off x="2382951" y="1380074"/>
            <a:ext cx="1221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Position: </a:t>
            </a:r>
            <a:r>
              <a:rPr lang="en-US" dirty="0">
                <a:highlight>
                  <a:srgbClr val="FFFF00"/>
                </a:highlight>
              </a:rPr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8592598-C7DB-94DA-2390-B7FB4DF54FB9}"/>
              </a:ext>
            </a:extLst>
          </p:cNvPr>
          <p:cNvSpPr txBox="1"/>
          <p:nvPr/>
        </p:nvSpPr>
        <p:spPr>
          <a:xfrm rot="18934675">
            <a:off x="4791456" y="655435"/>
            <a:ext cx="1937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 element: </a:t>
            </a:r>
            <a:r>
              <a:rPr lang="en-US" dirty="0">
                <a:highlight>
                  <a:srgbClr val="00FFFF"/>
                </a:highlight>
              </a:rPr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DA3FB5A-D607-ED31-5100-273E150862BC}"/>
              </a:ext>
            </a:extLst>
          </p:cNvPr>
          <p:cNvSpPr txBox="1"/>
          <p:nvPr/>
        </p:nvSpPr>
        <p:spPr>
          <a:xfrm rot="18934675">
            <a:off x="5826917" y="650266"/>
            <a:ext cx="1937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 element: 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9E4C12E-582E-9227-E661-68FD099AB4AC}"/>
              </a:ext>
            </a:extLst>
          </p:cNvPr>
          <p:cNvSpPr txBox="1"/>
          <p:nvPr/>
        </p:nvSpPr>
        <p:spPr>
          <a:xfrm rot="18934675">
            <a:off x="6947296" y="655434"/>
            <a:ext cx="1937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 element: 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353A3E9-5F07-3A85-4899-DE91D1AB2055}"/>
              </a:ext>
            </a:extLst>
          </p:cNvPr>
          <p:cNvSpPr txBox="1"/>
          <p:nvPr/>
        </p:nvSpPr>
        <p:spPr>
          <a:xfrm rot="18934675">
            <a:off x="8047393" y="629126"/>
            <a:ext cx="1937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 element: 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0659F29-D91A-0B40-D7CD-D7F2AA1A5D6E}"/>
              </a:ext>
            </a:extLst>
          </p:cNvPr>
          <p:cNvSpPr txBox="1"/>
          <p:nvPr/>
        </p:nvSpPr>
        <p:spPr>
          <a:xfrm rot="18934675">
            <a:off x="9009147" y="642281"/>
            <a:ext cx="1937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 element: 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456B083-D5E6-5B23-9037-56461E044566}"/>
              </a:ext>
            </a:extLst>
          </p:cNvPr>
          <p:cNvSpPr txBox="1"/>
          <p:nvPr/>
        </p:nvSpPr>
        <p:spPr>
          <a:xfrm rot="18934675">
            <a:off x="9882538" y="649542"/>
            <a:ext cx="1937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 element: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080EAD4-46BC-932F-F233-06B4E51A2CCB}"/>
                  </a:ext>
                </a:extLst>
              </p:cNvPr>
              <p:cNvSpPr txBox="1"/>
              <p:nvPr/>
            </p:nvSpPr>
            <p:spPr>
              <a:xfrm>
                <a:off x="4577993" y="2268778"/>
                <a:ext cx="63710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6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 1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/>
                                        <m:t>.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="0" i="0" smtClean="0"/>
                                        <m:t>4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/>
                                        <m:t>374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="0" i="0" smtClean="0"/>
                                        <m:t>   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 1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/>
                                        <m:t>.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="0" i="0" smtClean="0"/>
                                        <m:t>0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222 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="0" i="0" smtClean="0"/>
                                        <m:t>0.9965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="0" i="0" smtClean="0"/>
                                        <m:t>0.812 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  1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/>
                                        <m:t>.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="0" i="0" smtClean="0"/>
                                        <m:t>8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/>
                                        <m:t>486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="0" i="0" smtClean="0"/>
                                        <m:t> 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/>
                                        <m:t>.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="0" i="0" smtClean="0"/>
                                        <m:t>2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/>
                                        <m:t>603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0" dirty="0">
                  <a:effectLst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080EAD4-46BC-932F-F233-06B4E51A2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7993" y="2268778"/>
                <a:ext cx="637108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Arrow: Down 71">
            <a:extLst>
              <a:ext uri="{FF2B5EF4-FFF2-40B4-BE49-F238E27FC236}">
                <a16:creationId xmlns:a16="http://schemas.microsoft.com/office/drawing/2014/main" id="{BBCB7972-D059-8DCC-3264-37F70753F0BD}"/>
              </a:ext>
            </a:extLst>
          </p:cNvPr>
          <p:cNvSpPr/>
          <p:nvPr/>
        </p:nvSpPr>
        <p:spPr>
          <a:xfrm>
            <a:off x="7805817" y="2068451"/>
            <a:ext cx="158354" cy="2232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Plus Sign 73">
            <a:extLst>
              <a:ext uri="{FF2B5EF4-FFF2-40B4-BE49-F238E27FC236}">
                <a16:creationId xmlns:a16="http://schemas.microsoft.com/office/drawing/2014/main" id="{D83C8268-7E16-3C66-DF17-2708D19BC7EF}"/>
              </a:ext>
            </a:extLst>
          </p:cNvPr>
          <p:cNvSpPr/>
          <p:nvPr/>
        </p:nvSpPr>
        <p:spPr>
          <a:xfrm>
            <a:off x="4365008" y="1953498"/>
            <a:ext cx="231488" cy="234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8CC0957-E5BB-8043-2AFD-D3D3C3691A25}"/>
              </a:ext>
            </a:extLst>
          </p:cNvPr>
          <p:cNvCxnSpPr/>
          <p:nvPr/>
        </p:nvCxnSpPr>
        <p:spPr>
          <a:xfrm>
            <a:off x="4401528" y="2067610"/>
            <a:ext cx="65898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8EB00EB6-9867-ED7D-A906-B5C149D61637}"/>
              </a:ext>
            </a:extLst>
          </p:cNvPr>
          <p:cNvSpPr/>
          <p:nvPr/>
        </p:nvSpPr>
        <p:spPr>
          <a:xfrm>
            <a:off x="7424928" y="3438144"/>
            <a:ext cx="73152" cy="731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8596CAB4-9D25-C437-6728-8EE30DDA2B14}"/>
              </a:ext>
            </a:extLst>
          </p:cNvPr>
          <p:cNvSpPr/>
          <p:nvPr/>
        </p:nvSpPr>
        <p:spPr>
          <a:xfrm>
            <a:off x="7424928" y="3664616"/>
            <a:ext cx="73152" cy="731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96025DC-01FC-C6AD-9EE7-8D906B3FAF13}"/>
              </a:ext>
            </a:extLst>
          </p:cNvPr>
          <p:cNvSpPr/>
          <p:nvPr/>
        </p:nvSpPr>
        <p:spPr>
          <a:xfrm>
            <a:off x="7424928" y="3895001"/>
            <a:ext cx="73152" cy="731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E7A56E6-F0BD-49E3-AA38-BB8574821792}"/>
              </a:ext>
            </a:extLst>
          </p:cNvPr>
          <p:cNvSpPr/>
          <p:nvPr/>
        </p:nvSpPr>
        <p:spPr>
          <a:xfrm>
            <a:off x="7424928" y="4791141"/>
            <a:ext cx="73152" cy="731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F249D29-6C57-79B4-6193-86D0FA2E196F}"/>
              </a:ext>
            </a:extLst>
          </p:cNvPr>
          <p:cNvSpPr/>
          <p:nvPr/>
        </p:nvSpPr>
        <p:spPr>
          <a:xfrm>
            <a:off x="7424928" y="5017613"/>
            <a:ext cx="73152" cy="731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C0D5AD2-E386-6A42-2021-BBF266E30BE8}"/>
              </a:ext>
            </a:extLst>
          </p:cNvPr>
          <p:cNvSpPr/>
          <p:nvPr/>
        </p:nvSpPr>
        <p:spPr>
          <a:xfrm>
            <a:off x="7424928" y="5247998"/>
            <a:ext cx="73152" cy="731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A5F2374-D03A-2AFB-3BAB-093C322005E6}"/>
              </a:ext>
            </a:extLst>
          </p:cNvPr>
          <p:cNvSpPr/>
          <p:nvPr/>
        </p:nvSpPr>
        <p:spPr>
          <a:xfrm>
            <a:off x="7424928" y="6106917"/>
            <a:ext cx="73152" cy="731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00DCE648-058C-51AA-394C-84370496C137}"/>
              </a:ext>
            </a:extLst>
          </p:cNvPr>
          <p:cNvSpPr/>
          <p:nvPr/>
        </p:nvSpPr>
        <p:spPr>
          <a:xfrm>
            <a:off x="7424928" y="6333389"/>
            <a:ext cx="73152" cy="731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2797AEFA-CFE4-E315-9C20-6EC333544BB4}"/>
              </a:ext>
            </a:extLst>
          </p:cNvPr>
          <p:cNvSpPr/>
          <p:nvPr/>
        </p:nvSpPr>
        <p:spPr>
          <a:xfrm>
            <a:off x="7424928" y="6563774"/>
            <a:ext cx="73152" cy="731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5A33945-A7C0-F714-BFFA-3FFB2EAEEC99}"/>
              </a:ext>
            </a:extLst>
          </p:cNvPr>
          <p:cNvSpPr txBox="1"/>
          <p:nvPr/>
        </p:nvSpPr>
        <p:spPr>
          <a:xfrm>
            <a:off x="2498068" y="2716869"/>
            <a:ext cx="1221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Position: 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D2E0E89-AB12-4FD2-ACC5-50E632F8AB3F}"/>
              </a:ext>
            </a:extLst>
          </p:cNvPr>
          <p:cNvSpPr txBox="1"/>
          <p:nvPr/>
        </p:nvSpPr>
        <p:spPr>
          <a:xfrm>
            <a:off x="2496061" y="3280739"/>
            <a:ext cx="1221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Position: 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5239CEA-F0BA-F3EA-F546-CD54EE8A4C9F}"/>
              </a:ext>
            </a:extLst>
          </p:cNvPr>
          <p:cNvSpPr txBox="1"/>
          <p:nvPr/>
        </p:nvSpPr>
        <p:spPr>
          <a:xfrm>
            <a:off x="2406316" y="5919657"/>
            <a:ext cx="1221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Position: 4</a:t>
            </a:r>
          </a:p>
        </p:txBody>
      </p:sp>
    </p:spTree>
    <p:extLst>
      <p:ext uri="{BB962C8B-B14F-4D97-AF65-F5344CB8AC3E}">
        <p14:creationId xmlns:p14="http://schemas.microsoft.com/office/powerpoint/2010/main" val="2883619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983D83-4E25-1E05-704C-D70998D7DCDF}"/>
              </a:ext>
            </a:extLst>
          </p:cNvPr>
          <p:cNvSpPr txBox="1"/>
          <p:nvPr/>
        </p:nvSpPr>
        <p:spPr>
          <a:xfrm>
            <a:off x="3778129" y="176109"/>
            <a:ext cx="499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Text processing: from tokenization to embedding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A01F8-6529-E257-F24E-3165DB695D6B}"/>
              </a:ext>
            </a:extLst>
          </p:cNvPr>
          <p:cNvSpPr txBox="1"/>
          <p:nvPr/>
        </p:nvSpPr>
        <p:spPr>
          <a:xfrm>
            <a:off x="1044775" y="630399"/>
            <a:ext cx="3316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input to LLM: </a:t>
            </a:r>
            <a:r>
              <a:rPr lang="en-US" b="1" dirty="0"/>
              <a:t>I like coding!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5AEA2B-D84E-DE5B-E8D8-E6CAA4671516}"/>
                  </a:ext>
                </a:extLst>
              </p:cNvPr>
              <p:cNvSpPr txBox="1"/>
              <p:nvPr/>
            </p:nvSpPr>
            <p:spPr>
              <a:xfrm>
                <a:off x="918286" y="1432360"/>
                <a:ext cx="446789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Tokens: Input </a:t>
                </a:r>
                <a:r>
                  <a:rPr lang="en-US" dirty="0">
                    <a:sym typeface="Wingdings" panose="05000000000000000000" pitchFamily="2" charset="2"/>
                  </a:rPr>
                  <a:t></a:t>
                </a:r>
                <a:r>
                  <a:rPr lang="en-US" dirty="0"/>
                  <a:t> Target </a:t>
                </a:r>
              </a:p>
              <a:p>
                <a:r>
                  <a:rPr lang="en-US" dirty="0"/>
                  <a:t>[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367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2990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]  </a:t>
                </a:r>
                <a:r>
                  <a:rPr lang="en-US" dirty="0">
                    <a:sym typeface="Wingdings" panose="05000000000000000000" pitchFamily="2" charset="2"/>
                  </a:rPr>
                  <a:t></a:t>
                </a:r>
                <a:r>
                  <a:rPr lang="en-US" dirty="0"/>
                  <a:t> [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367   2990   4 </m:t>
                    </m:r>
                  </m:oMath>
                </a14:m>
                <a:r>
                  <a:rPr lang="en-US" dirty="0"/>
                  <a:t> 423  ]</a:t>
                </a:r>
              </a:p>
              <a:p>
                <a:r>
                  <a:rPr lang="en-US" dirty="0"/>
                  <a:t>[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367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2990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423</m:t>
                    </m:r>
                  </m:oMath>
                </a14:m>
                <a:r>
                  <a:rPr lang="en-US" dirty="0"/>
                  <a:t>]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dirty="0"/>
                  <a:t>[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2990   4   423 </m:t>
                    </m:r>
                  </m:oMath>
                </a14:m>
                <a:r>
                  <a:rPr lang="en-US" dirty="0"/>
                  <a:t> 3201]</a:t>
                </a:r>
              </a:p>
              <a:p>
                <a:endParaRPr lang="en-US" dirty="0"/>
              </a:p>
              <a:p>
                <a:r>
                  <a:rPr lang="en-US" dirty="0"/>
                  <a:t> </a:t>
                </a:r>
                <a:endParaRPr lang="en-US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5AEA2B-D84E-DE5B-E8D8-E6CAA4671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286" y="1432360"/>
                <a:ext cx="4467890" cy="1477328"/>
              </a:xfrm>
              <a:prstGeom prst="rect">
                <a:avLst/>
              </a:prstGeom>
              <a:blipFill>
                <a:blip r:embed="rId2"/>
                <a:stretch>
                  <a:fillRect l="-1228" t="-2893" r="-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FADC585-9FA3-089C-FDCA-863926B353AF}"/>
              </a:ext>
            </a:extLst>
          </p:cNvPr>
          <p:cNvSpPr/>
          <p:nvPr/>
        </p:nvSpPr>
        <p:spPr>
          <a:xfrm>
            <a:off x="7771767" y="630399"/>
            <a:ext cx="1189345" cy="5636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E8F942-908C-DE3B-1C4F-6FCC540787D3}"/>
              </a:ext>
            </a:extLst>
          </p:cNvPr>
          <p:cNvSpPr txBox="1"/>
          <p:nvPr/>
        </p:nvSpPr>
        <p:spPr>
          <a:xfrm>
            <a:off x="9070215" y="727572"/>
            <a:ext cx="2252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has its own tokenizer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F26166D-D7AF-B90D-9E17-E4CCDB035BF1}"/>
              </a:ext>
            </a:extLst>
          </p:cNvPr>
          <p:cNvSpPr/>
          <p:nvPr/>
        </p:nvSpPr>
        <p:spPr>
          <a:xfrm>
            <a:off x="7771767" y="1714426"/>
            <a:ext cx="1189345" cy="5636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Tokenizer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881988-394E-B803-024D-5DCDB34EECDE}"/>
              </a:ext>
            </a:extLst>
          </p:cNvPr>
          <p:cNvSpPr txBox="1"/>
          <p:nvPr/>
        </p:nvSpPr>
        <p:spPr>
          <a:xfrm>
            <a:off x="9070215" y="1392386"/>
            <a:ext cx="29841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has its own unique token pool. Each token has a vector length of embedding size.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06E8D59C-AE3E-7E7F-510D-770389652328}"/>
              </a:ext>
            </a:extLst>
          </p:cNvPr>
          <p:cNvSpPr/>
          <p:nvPr/>
        </p:nvSpPr>
        <p:spPr>
          <a:xfrm>
            <a:off x="9646920" y="2592715"/>
            <a:ext cx="219456" cy="29548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B8A506A-C203-D99E-E3DD-7C3241B2CF9D}"/>
              </a:ext>
            </a:extLst>
          </p:cNvPr>
          <p:cNvGrpSpPr/>
          <p:nvPr/>
        </p:nvGrpSpPr>
        <p:grpSpPr>
          <a:xfrm>
            <a:off x="5533167" y="3113063"/>
            <a:ext cx="6521174" cy="2340450"/>
            <a:chOff x="5480208" y="3014776"/>
            <a:chExt cx="6521174" cy="234045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BC4D19E-7AAD-F727-37E8-A9EA720FA2EC}"/>
                    </a:ext>
                  </a:extLst>
                </p:cNvPr>
                <p:cNvSpPr txBox="1"/>
                <p:nvPr/>
              </p:nvSpPr>
              <p:spPr>
                <a:xfrm>
                  <a:off x="6711793" y="3014776"/>
                  <a:ext cx="5289589" cy="12655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7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nor/>
                                    </m:rPr>
                                    <a:rPr lang="en-US"/>
                                    <m:t>1.6449</m:t>
                                  </m:r>
                                </m:e>
                                <m:e>
                                  <m:r>
                                    <m:rPr>
                                      <m:nor/>
                                    </m:rPr>
                                    <a:rPr lang="en-US" i="0"/>
                                    <m:t>-</m:t>
                                  </m:r>
                                  <m:r>
                                    <m:rPr>
                                      <m:nor/>
                                    </m:rPr>
                                    <a:rPr lang="en-US"/>
                                    <m:t>1.3733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m:rPr>
                                      <m:nor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...</m:t>
                                  </m:r>
                                </m:e>
                                <m:e>
                                  <m:r>
                                    <m:rPr>
                                      <m:nor/>
                                    </m:rPr>
                                    <a:rPr lang="en-US"/>
                                    <m:t>0.6463</m:t>
                                  </m:r>
                                </m:e>
                                <m:e>
                                  <m:r>
                                    <m:rPr>
                                      <m:nor/>
                                    </m:rPr>
                                    <a:rPr lang="en-US" i="0"/>
                                    <m:t>-</m:t>
                                  </m:r>
                                  <m:r>
                                    <m:rPr>
                                      <m:nor/>
                                    </m:rPr>
                                    <a:rPr lang="en-US"/>
                                    <m:t>2.8856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nor/>
                                    </m:rPr>
                                    <a:rPr lang="en-US"/>
                                    <m:t>1.6991</m:t>
                                  </m:r>
                                </m:e>
                                <m:e>
                                  <m:r>
                                    <m:rPr>
                                      <m:nor/>
                                    </m:rPr>
                                    <a:rPr lang="en-US"/>
                                    <m:t>1.0064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m:rPr>
                                      <m:nor/>
                                    </m:rPr>
                                    <a:rPr lang="en-US"/>
                                    <m:t>1.5006</m:t>
                                  </m:r>
                                </m:e>
                                <m:e>
                                  <m:r>
                                    <m:rPr>
                                      <m:nor/>
                                    </m:rPr>
                                    <a:rPr lang="en-US"/>
                                    <m:t>2.2235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nor/>
                                    </m:rPr>
                                    <a:rPr lang="en-US"/>
                                    <m:t>0.7674</m:t>
                                  </m:r>
                                </m:e>
                                <m:e>
                                  <m:r>
                                    <m:rPr>
                                      <m:nor/>
                                    </m:rPr>
                                    <a:rPr lang="en-US"/>
                                    <m:t>1.8183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/>
                                    <m:t>0.9280</m:t>
                                  </m:r>
                                </m:e>
                                <m:e>
                                  <m:r>
                                    <m:rPr>
                                      <m:nor/>
                                    </m:rPr>
                                    <a:rPr lang="en-US"/>
                                    <m:t>0.0261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BC4D19E-7AAD-F727-37E8-A9EA720FA2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1793" y="3014776"/>
                  <a:ext cx="5289589" cy="126553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Left Brace 13">
              <a:extLst>
                <a:ext uri="{FF2B5EF4-FFF2-40B4-BE49-F238E27FC236}">
                  <a16:creationId xmlns:a16="http://schemas.microsoft.com/office/drawing/2014/main" id="{C69B4F48-C2FD-4203-9958-209EC635688C}"/>
                </a:ext>
              </a:extLst>
            </p:cNvPr>
            <p:cNvSpPr/>
            <p:nvPr/>
          </p:nvSpPr>
          <p:spPr>
            <a:xfrm>
              <a:off x="6419088" y="3014776"/>
              <a:ext cx="292705" cy="1265539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9FBA5E-B778-F816-2AA6-AD658CAACC91}"/>
                </a:ext>
              </a:extLst>
            </p:cNvPr>
            <p:cNvSpPr txBox="1"/>
            <p:nvPr/>
          </p:nvSpPr>
          <p:spPr>
            <a:xfrm>
              <a:off x="5480208" y="3324379"/>
              <a:ext cx="91185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50257</a:t>
              </a:r>
            </a:p>
            <a:p>
              <a:pPr algn="ctr"/>
              <a:r>
                <a:rPr lang="en-US" dirty="0"/>
                <a:t>(GPT-2)</a:t>
              </a:r>
            </a:p>
          </p:txBody>
        </p:sp>
        <p:sp>
          <p:nvSpPr>
            <p:cNvPr id="16" name="Left Brace 15">
              <a:extLst>
                <a:ext uri="{FF2B5EF4-FFF2-40B4-BE49-F238E27FC236}">
                  <a16:creationId xmlns:a16="http://schemas.microsoft.com/office/drawing/2014/main" id="{A639882B-A774-B53C-9B27-87A37C8A68AE}"/>
                </a:ext>
              </a:extLst>
            </p:cNvPr>
            <p:cNvSpPr/>
            <p:nvPr/>
          </p:nvSpPr>
          <p:spPr>
            <a:xfrm rot="16200000">
              <a:off x="9261171" y="2092010"/>
              <a:ext cx="233972" cy="4999798"/>
            </a:xfrm>
            <a:prstGeom prst="leftBrace">
              <a:avLst>
                <a:gd name="adj1" fmla="val 8333"/>
                <a:gd name="adj2" fmla="val 5125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6DEFA93-4EFA-FE27-96D1-64B457FE5101}"/>
                </a:ext>
              </a:extLst>
            </p:cNvPr>
            <p:cNvSpPr txBox="1"/>
            <p:nvPr/>
          </p:nvSpPr>
          <p:spPr>
            <a:xfrm>
              <a:off x="8696286" y="4708895"/>
              <a:ext cx="152740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768</a:t>
              </a:r>
            </a:p>
            <a:p>
              <a:pPr algn="ctr"/>
              <a:r>
                <a:rPr lang="en-US" dirty="0"/>
                <a:t>(GPT-2 Small)</a:t>
              </a:r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0E6C96B-0C68-69E1-8223-8DA5790918B7}"/>
              </a:ext>
            </a:extLst>
          </p:cNvPr>
          <p:cNvSpPr/>
          <p:nvPr/>
        </p:nvSpPr>
        <p:spPr>
          <a:xfrm>
            <a:off x="11484864" y="4443984"/>
            <a:ext cx="596500" cy="1152144"/>
          </a:xfrm>
          <a:custGeom>
            <a:avLst/>
            <a:gdLst>
              <a:gd name="connsiteX0" fmla="*/ 411480 w 596500"/>
              <a:gd name="connsiteY0" fmla="*/ 0 h 1152144"/>
              <a:gd name="connsiteX1" fmla="*/ 576072 w 596500"/>
              <a:gd name="connsiteY1" fmla="*/ 768096 h 1152144"/>
              <a:gd name="connsiteX2" fmla="*/ 0 w 596500"/>
              <a:gd name="connsiteY2" fmla="*/ 1152144 h 1152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6500" h="1152144">
                <a:moveTo>
                  <a:pt x="411480" y="0"/>
                </a:moveTo>
                <a:cubicBezTo>
                  <a:pt x="528066" y="288036"/>
                  <a:pt x="644652" y="576072"/>
                  <a:pt x="576072" y="768096"/>
                </a:cubicBezTo>
                <a:cubicBezTo>
                  <a:pt x="507492" y="960120"/>
                  <a:pt x="253746" y="1056132"/>
                  <a:pt x="0" y="115214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59BADD-70BC-BE58-2FDC-1E40114AC531}"/>
              </a:ext>
            </a:extLst>
          </p:cNvPr>
          <p:cNvSpPr txBox="1"/>
          <p:nvPr/>
        </p:nvSpPr>
        <p:spPr>
          <a:xfrm>
            <a:off x="10072934" y="5581788"/>
            <a:ext cx="18580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row corresponds to a unique token id.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95F414-CBC2-C10B-3275-0AAB2398452A}"/>
              </a:ext>
            </a:extLst>
          </p:cNvPr>
          <p:cNvSpPr txBox="1"/>
          <p:nvPr/>
        </p:nvSpPr>
        <p:spPr>
          <a:xfrm>
            <a:off x="2608589" y="1001891"/>
            <a:ext cx="1556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BPE Tokenizer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E3ABA1-88AB-AD31-2C08-6C38625047BC}"/>
              </a:ext>
            </a:extLst>
          </p:cNvPr>
          <p:cNvSpPr txBox="1"/>
          <p:nvPr/>
        </p:nvSpPr>
        <p:spPr>
          <a:xfrm>
            <a:off x="9866376" y="2546548"/>
            <a:ext cx="1935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Embedding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233ACE80-A65B-036B-42BC-325387C0551D}"/>
              </a:ext>
            </a:extLst>
          </p:cNvPr>
          <p:cNvSpPr/>
          <p:nvPr/>
        </p:nvSpPr>
        <p:spPr>
          <a:xfrm>
            <a:off x="283963" y="2316714"/>
            <a:ext cx="1365018" cy="1459294"/>
          </a:xfrm>
          <a:custGeom>
            <a:avLst/>
            <a:gdLst>
              <a:gd name="connsiteX0" fmla="*/ 1236551 w 1236551"/>
              <a:gd name="connsiteY0" fmla="*/ 0 h 641023"/>
              <a:gd name="connsiteX1" fmla="*/ 48774 w 1236551"/>
              <a:gd name="connsiteY1" fmla="*/ 443060 h 641023"/>
              <a:gd name="connsiteX2" fmla="*/ 341005 w 1236551"/>
              <a:gd name="connsiteY2" fmla="*/ 641023 h 64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6551" h="641023">
                <a:moveTo>
                  <a:pt x="1236551" y="0"/>
                </a:moveTo>
                <a:cubicBezTo>
                  <a:pt x="717291" y="168111"/>
                  <a:pt x="198031" y="336223"/>
                  <a:pt x="48774" y="443060"/>
                </a:cubicBezTo>
                <a:cubicBezTo>
                  <a:pt x="-100483" y="549897"/>
                  <a:pt x="120261" y="595460"/>
                  <a:pt x="341005" y="641023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CE81EF5D-3D47-4F6A-E821-BF03F51BE1FA}"/>
              </a:ext>
            </a:extLst>
          </p:cNvPr>
          <p:cNvSpPr/>
          <p:nvPr/>
        </p:nvSpPr>
        <p:spPr>
          <a:xfrm>
            <a:off x="536718" y="2316968"/>
            <a:ext cx="730695" cy="1185439"/>
          </a:xfrm>
          <a:custGeom>
            <a:avLst/>
            <a:gdLst>
              <a:gd name="connsiteX0" fmla="*/ 1687448 w 1687448"/>
              <a:gd name="connsiteY0" fmla="*/ 0 h 914400"/>
              <a:gd name="connsiteX1" fmla="*/ 301707 w 1687448"/>
              <a:gd name="connsiteY1" fmla="*/ 452486 h 914400"/>
              <a:gd name="connsiteX2" fmla="*/ 50 w 1687448"/>
              <a:gd name="connsiteY2" fmla="*/ 772998 h 914400"/>
              <a:gd name="connsiteX3" fmla="*/ 282854 w 1687448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7448" h="914400">
                <a:moveTo>
                  <a:pt x="1687448" y="0"/>
                </a:moveTo>
                <a:cubicBezTo>
                  <a:pt x="1135194" y="161826"/>
                  <a:pt x="582940" y="323653"/>
                  <a:pt x="301707" y="452486"/>
                </a:cubicBezTo>
                <a:cubicBezTo>
                  <a:pt x="20474" y="581319"/>
                  <a:pt x="3192" y="696012"/>
                  <a:pt x="50" y="772998"/>
                </a:cubicBezTo>
                <a:cubicBezTo>
                  <a:pt x="-3092" y="849984"/>
                  <a:pt x="139881" y="882192"/>
                  <a:pt x="282854" y="91440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D18C97-6718-7DAC-6002-AAC1F7746F2B}"/>
              </a:ext>
            </a:extLst>
          </p:cNvPr>
          <p:cNvSpPr txBox="1"/>
          <p:nvPr/>
        </p:nvSpPr>
        <p:spPr>
          <a:xfrm>
            <a:off x="2608715" y="2580770"/>
            <a:ext cx="2955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to embedding vectors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3CAF422-260D-6617-4131-A17B7841EA2E}"/>
                  </a:ext>
                </a:extLst>
              </p:cNvPr>
              <p:cNvSpPr txBox="1"/>
              <p:nvPr/>
            </p:nvSpPr>
            <p:spPr>
              <a:xfrm>
                <a:off x="699516" y="3399673"/>
                <a:ext cx="3815725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1.49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i="0"/>
                                  <m:t>-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1.33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0.63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i="0"/>
                                  <m:t>-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2.56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1.91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1.64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1.06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2.35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2.42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2.10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0.54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0.74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1.83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0.80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0.61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3CAF422-260D-6617-4131-A17B7841E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16" y="3399673"/>
                <a:ext cx="3815725" cy="10204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Left Brace 54">
            <a:extLst>
              <a:ext uri="{FF2B5EF4-FFF2-40B4-BE49-F238E27FC236}">
                <a16:creationId xmlns:a16="http://schemas.microsoft.com/office/drawing/2014/main" id="{09371BCB-C665-8679-2CAB-A0EF76C51D6D}"/>
              </a:ext>
            </a:extLst>
          </p:cNvPr>
          <p:cNvSpPr/>
          <p:nvPr/>
        </p:nvSpPr>
        <p:spPr>
          <a:xfrm rot="16200000">
            <a:off x="2435859" y="2909624"/>
            <a:ext cx="233972" cy="3616188"/>
          </a:xfrm>
          <a:prstGeom prst="leftBrace">
            <a:avLst>
              <a:gd name="adj1" fmla="val 8333"/>
              <a:gd name="adj2" fmla="val 512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29485EA-B121-5479-ACEE-0610386CE8B3}"/>
              </a:ext>
            </a:extLst>
          </p:cNvPr>
          <p:cNvSpPr txBox="1"/>
          <p:nvPr/>
        </p:nvSpPr>
        <p:spPr>
          <a:xfrm>
            <a:off x="2329898" y="485140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768</a:t>
            </a:r>
          </a:p>
        </p:txBody>
      </p:sp>
      <p:sp>
        <p:nvSpPr>
          <p:cNvPr id="57" name="Left Brace 56">
            <a:extLst>
              <a:ext uri="{FF2B5EF4-FFF2-40B4-BE49-F238E27FC236}">
                <a16:creationId xmlns:a16="http://schemas.microsoft.com/office/drawing/2014/main" id="{9AEC6C68-24CB-0EE3-9EC8-D5E2694169EC}"/>
              </a:ext>
            </a:extLst>
          </p:cNvPr>
          <p:cNvSpPr/>
          <p:nvPr/>
        </p:nvSpPr>
        <p:spPr>
          <a:xfrm flipH="1">
            <a:off x="4614396" y="3436227"/>
            <a:ext cx="241166" cy="1020473"/>
          </a:xfrm>
          <a:prstGeom prst="leftBrace">
            <a:avLst>
              <a:gd name="adj1" fmla="val 8333"/>
              <a:gd name="adj2" fmla="val 5072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18259F9-02B9-99A9-2425-32AF30B38955}"/>
              </a:ext>
            </a:extLst>
          </p:cNvPr>
          <p:cNvSpPr txBox="1"/>
          <p:nvPr/>
        </p:nvSpPr>
        <p:spPr>
          <a:xfrm>
            <a:off x="4910167" y="376179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9" name="Left Brace 58">
            <a:extLst>
              <a:ext uri="{FF2B5EF4-FFF2-40B4-BE49-F238E27FC236}">
                <a16:creationId xmlns:a16="http://schemas.microsoft.com/office/drawing/2014/main" id="{7170C991-E6B5-4CFE-991F-FCB79F871C20}"/>
              </a:ext>
            </a:extLst>
          </p:cNvPr>
          <p:cNvSpPr/>
          <p:nvPr/>
        </p:nvSpPr>
        <p:spPr>
          <a:xfrm>
            <a:off x="635191" y="1810528"/>
            <a:ext cx="283095" cy="500996"/>
          </a:xfrm>
          <a:prstGeom prst="leftBrace">
            <a:avLst>
              <a:gd name="adj1" fmla="val 8333"/>
              <a:gd name="adj2" fmla="val 5072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328A426-4103-E53C-60A9-06978665B2E6}"/>
              </a:ext>
            </a:extLst>
          </p:cNvPr>
          <p:cNvSpPr txBox="1"/>
          <p:nvPr/>
        </p:nvSpPr>
        <p:spPr>
          <a:xfrm>
            <a:off x="-114537" y="1691694"/>
            <a:ext cx="8420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</a:t>
            </a:r>
          </a:p>
          <a:p>
            <a:pPr algn="ctr"/>
            <a:r>
              <a:rPr lang="en-US" sz="1400" dirty="0"/>
              <a:t>(no. of batch)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31820A2-8731-AD7C-D9FC-920B0924A673}"/>
                  </a:ext>
                </a:extLst>
              </p:cNvPr>
              <p:cNvSpPr txBox="1"/>
              <p:nvPr/>
            </p:nvSpPr>
            <p:spPr>
              <a:xfrm>
                <a:off x="884663" y="5280036"/>
                <a:ext cx="3445430" cy="10204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1.9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i="0"/>
                                  <m:t>-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1.3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0.3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i="0"/>
                                  <m:t>-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2.6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1.1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1.4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1.6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2.5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2.4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1.2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−0.4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0.4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1.3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/>
                                  <m:t>0.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0.1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31820A2-8731-AD7C-D9FC-920B0924A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663" y="5280036"/>
                <a:ext cx="3445430" cy="10204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337BDC0-4407-07C4-64F6-EA42968EF43B}"/>
              </a:ext>
            </a:extLst>
          </p:cNvPr>
          <p:cNvCxnSpPr>
            <a:cxnSpLocks/>
          </p:cNvCxnSpPr>
          <p:nvPr/>
        </p:nvCxnSpPr>
        <p:spPr>
          <a:xfrm>
            <a:off x="4515241" y="4573209"/>
            <a:ext cx="394926" cy="3037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14F88AF-69CC-7EEF-6E92-C68271946286}"/>
              </a:ext>
            </a:extLst>
          </p:cNvPr>
          <p:cNvCxnSpPr>
            <a:cxnSpLocks/>
          </p:cNvCxnSpPr>
          <p:nvPr/>
        </p:nvCxnSpPr>
        <p:spPr>
          <a:xfrm>
            <a:off x="4360939" y="5678424"/>
            <a:ext cx="4946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A42B667D-C813-EF1C-D19E-0AE5F009F1BD}"/>
              </a:ext>
            </a:extLst>
          </p:cNvPr>
          <p:cNvSpPr txBox="1"/>
          <p:nvPr/>
        </p:nvSpPr>
        <p:spPr>
          <a:xfrm>
            <a:off x="4905908" y="4747953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batch #1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04F19AD-3AA0-4C8E-481F-19A877C216B6}"/>
              </a:ext>
            </a:extLst>
          </p:cNvPr>
          <p:cNvSpPr txBox="1"/>
          <p:nvPr/>
        </p:nvSpPr>
        <p:spPr>
          <a:xfrm>
            <a:off x="4922767" y="5453916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batch #2</a:t>
            </a:r>
          </a:p>
        </p:txBody>
      </p:sp>
      <p:sp>
        <p:nvSpPr>
          <p:cNvPr id="70" name="Arrow: Down 69">
            <a:extLst>
              <a:ext uri="{FF2B5EF4-FFF2-40B4-BE49-F238E27FC236}">
                <a16:creationId xmlns:a16="http://schemas.microsoft.com/office/drawing/2014/main" id="{A8DC4D94-09F8-30D6-8A93-2562627D13AE}"/>
              </a:ext>
            </a:extLst>
          </p:cNvPr>
          <p:cNvSpPr/>
          <p:nvPr/>
        </p:nvSpPr>
        <p:spPr>
          <a:xfrm>
            <a:off x="2334582" y="1088621"/>
            <a:ext cx="219456" cy="29548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Arrow: Down 70">
            <a:extLst>
              <a:ext uri="{FF2B5EF4-FFF2-40B4-BE49-F238E27FC236}">
                <a16:creationId xmlns:a16="http://schemas.microsoft.com/office/drawing/2014/main" id="{B8DCDE18-E9BB-6F62-5ABA-4285B9EC0C06}"/>
              </a:ext>
            </a:extLst>
          </p:cNvPr>
          <p:cNvSpPr/>
          <p:nvPr/>
        </p:nvSpPr>
        <p:spPr>
          <a:xfrm>
            <a:off x="2334582" y="2630909"/>
            <a:ext cx="219456" cy="29548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2F25A63-A21E-37F5-4BF3-B0EA7C6CA0CA}"/>
              </a:ext>
            </a:extLst>
          </p:cNvPr>
          <p:cNvGrpSpPr/>
          <p:nvPr/>
        </p:nvGrpSpPr>
        <p:grpSpPr>
          <a:xfrm>
            <a:off x="6344456" y="5516329"/>
            <a:ext cx="547886" cy="547886"/>
            <a:chOff x="7020578" y="5495059"/>
            <a:chExt cx="813899" cy="813899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A0BF75A3-D704-57ED-28DE-224D11716FBD}"/>
                </a:ext>
              </a:extLst>
            </p:cNvPr>
            <p:cNvSpPr/>
            <p:nvPr/>
          </p:nvSpPr>
          <p:spPr>
            <a:xfrm>
              <a:off x="7020578" y="5495059"/>
              <a:ext cx="813899" cy="8138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Plus Sign 71">
              <a:extLst>
                <a:ext uri="{FF2B5EF4-FFF2-40B4-BE49-F238E27FC236}">
                  <a16:creationId xmlns:a16="http://schemas.microsoft.com/office/drawing/2014/main" id="{84F009D4-E9F7-EB80-09E5-8C23C7ADE92D}"/>
                </a:ext>
              </a:extLst>
            </p:cNvPr>
            <p:cNvSpPr/>
            <p:nvPr/>
          </p:nvSpPr>
          <p:spPr>
            <a:xfrm>
              <a:off x="7217192" y="5680968"/>
              <a:ext cx="416734" cy="442080"/>
            </a:xfrm>
            <a:prstGeom prst="mathPl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B2ED405F-9D05-A7AB-BF58-5B47E7FE1ED4}"/>
              </a:ext>
            </a:extLst>
          </p:cNvPr>
          <p:cNvSpPr txBox="1"/>
          <p:nvPr/>
        </p:nvSpPr>
        <p:spPr>
          <a:xfrm>
            <a:off x="4734979" y="6190898"/>
            <a:ext cx="3970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Positional embedding: shape = 4 x 768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B8CB450-ED14-461A-7323-46E6BE14F76C}"/>
              </a:ext>
            </a:extLst>
          </p:cNvPr>
          <p:cNvCxnSpPr>
            <a:stCxn id="68" idx="3"/>
            <a:endCxn id="73" idx="2"/>
          </p:cNvCxnSpPr>
          <p:nvPr/>
        </p:nvCxnSpPr>
        <p:spPr>
          <a:xfrm>
            <a:off x="5974658" y="5638582"/>
            <a:ext cx="369798" cy="151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61769CB-5D65-77F0-EB75-B070A06AFB65}"/>
              </a:ext>
            </a:extLst>
          </p:cNvPr>
          <p:cNvCxnSpPr>
            <a:endCxn id="73" idx="3"/>
          </p:cNvCxnSpPr>
          <p:nvPr/>
        </p:nvCxnSpPr>
        <p:spPr>
          <a:xfrm flipV="1">
            <a:off x="6159557" y="5983979"/>
            <a:ext cx="265135" cy="206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D60C35A-9999-8760-5B9B-89E64B8471A4}"/>
              </a:ext>
            </a:extLst>
          </p:cNvPr>
          <p:cNvCxnSpPr>
            <a:stCxn id="73" idx="6"/>
          </p:cNvCxnSpPr>
          <p:nvPr/>
        </p:nvCxnSpPr>
        <p:spPr>
          <a:xfrm flipV="1">
            <a:off x="6892342" y="5714427"/>
            <a:ext cx="276554" cy="758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0D00C53F-12A5-1E51-FB5B-6E6822D8F402}"/>
              </a:ext>
            </a:extLst>
          </p:cNvPr>
          <p:cNvSpPr txBox="1"/>
          <p:nvPr/>
        </p:nvSpPr>
        <p:spPr>
          <a:xfrm>
            <a:off x="7209481" y="5429183"/>
            <a:ext cx="13448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embedding</a:t>
            </a:r>
          </a:p>
        </p:txBody>
      </p:sp>
    </p:spTree>
    <p:extLst>
      <p:ext uri="{BB962C8B-B14F-4D97-AF65-F5344CB8AC3E}">
        <p14:creationId xmlns:p14="http://schemas.microsoft.com/office/powerpoint/2010/main" val="1471243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345</Words>
  <Application>Microsoft Office PowerPoint</Application>
  <PresentationFormat>Widescreen</PresentationFormat>
  <Paragraphs>123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Yildiz, Furkan AVL/TR</dc:creator>
  <cp:lastModifiedBy>Yildiz, Furkan AVL/TR</cp:lastModifiedBy>
  <cp:revision>33</cp:revision>
  <dcterms:created xsi:type="dcterms:W3CDTF">2025-04-20T07:10:32Z</dcterms:created>
  <dcterms:modified xsi:type="dcterms:W3CDTF">2025-05-01T15:41:33Z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1075092-e835-4209-8938-695d786e0591_Enabled">
    <vt:lpwstr>true</vt:lpwstr>
  </property>
  <property fmtid="{D5CDD505-2E9C-101B-9397-08002B2CF9AE}" pid="3" name="MSIP_Label_61075092-e835-4209-8938-695d786e0591_SetDate">
    <vt:lpwstr>2025-04-20T07:39:44Z</vt:lpwstr>
  </property>
  <property fmtid="{D5CDD505-2E9C-101B-9397-08002B2CF9AE}" pid="4" name="MSIP_Label_61075092-e835-4209-8938-695d786e0591_Method">
    <vt:lpwstr>Standard</vt:lpwstr>
  </property>
  <property fmtid="{D5CDD505-2E9C-101B-9397-08002B2CF9AE}" pid="5" name="MSIP_Label_61075092-e835-4209-8938-695d786e0591_Name">
    <vt:lpwstr>internal</vt:lpwstr>
  </property>
  <property fmtid="{D5CDD505-2E9C-101B-9397-08002B2CF9AE}" pid="6" name="MSIP_Label_61075092-e835-4209-8938-695d786e0591_SiteId">
    <vt:lpwstr>b4bc7e59-9a34-4622-ab54-d7a1a680f47a</vt:lpwstr>
  </property>
  <property fmtid="{D5CDD505-2E9C-101B-9397-08002B2CF9AE}" pid="7" name="MSIP_Label_61075092-e835-4209-8938-695d786e0591_ActionId">
    <vt:lpwstr>2618de58-0899-4593-9d11-d6beacf37f1f</vt:lpwstr>
  </property>
  <property fmtid="{D5CDD505-2E9C-101B-9397-08002B2CF9AE}" pid="8" name="MSIP_Label_61075092-e835-4209-8938-695d786e0591_ContentBits">
    <vt:lpwstr>0</vt:lpwstr>
  </property>
  <property fmtid="{D5CDD505-2E9C-101B-9397-08002B2CF9AE}" pid="9" name="MSIP_Label_61075092-e835-4209-8938-695d786e0591_Tag">
    <vt:lpwstr>10, 3, 0, 1</vt:lpwstr>
  </property>
</Properties>
</file>